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itch" id="{e337c387-f85e-014f-8a18-d2936a8df6d4}">
          <p14:sldIdLst>
            <p14:sldId id="256"/>
            <p14:sldId id="257"/>
            <p14:sldId id="258"/>
            <p14:sldId id="259"/>
            <p14:sldId id="260"/>
            <p14:sldId id="261"/>
            <p14:sldId id="262"/>
            <p14:sldId id="263"/>
          </p14:sldIdLst>
        </p14:section>
        <p14:section name="Team" id="{8d72cfd1-a6e7-a687-495a-446dfffd21f2}">
          <p14:sldIdLst>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(about 15 seconds)
Hi, we are [team name]. This is OPD Saathi, for the "Hospital queues, sorted" problem in Reimagine Government. Saathi means companion: from the gate to the doctor’s door, the patient always knows their turn and the way to their room.
BEFORE YOU SUBMIT
Replace [Team name] and the member names. The phone is a real screenshot of the app (sample hospital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(about 30 seconds)
Anyone who has taken a parent to a government OPD knows this morning: a queue for the slip, then a long wait with no idea how many people are ahead, then hunting for the room, and if you step away, you miss your name. This is not just a feeling. The CAG audited hospitals here in Jammu and Kashmir. In its survey of 750 outpatients, 62% at the big hospitals waited more than half an hour to see a doctor, and 58% of OPD patients were examined for less than five minutes. Most of the visit is waiting, and the patient cannot tell when their turn is.
SOURCE (have it ready if a judge asks)
CAG of India, Report No. 2 of 2025, Performance Audit on Public Health Infrastructure and Management of Health Services, Government of Jammu &amp; Kashmir (cag.gov.in). Reported in the Daily Excelsior: "CAG flags long waits, short consultations in J&amp;K OPDs". The 62% is patients at tertiary hospitals in the audit’s survey; the 58% is from OPD records, 2016–22.
MAKE IT STRONGER
If you ask 10–20 people yourselves (a WhatsApp poll is enough), add one real quote from someone you asked. Never invent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(about 25 seconds)
OPD Saathi turns the wait into something you can see. You register on your phone and get a token. The phone shows how many people are ahead of you and about how long it will be, and it rings when your turn is close, even with the screen off. Then it walks you to the room, step by step, with landmarks. Point at the phone: this is a real screen. Two people ahead, about five minutes, your turn is close.
It works in Hindi or English, by voice or by touch. Someone with a basic phone can follow the line by SMS. And Emergency is one tap away on every screen: the app never decides whether something is an emergency and never makes anyone wait.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(about 30 seconds)
One: register in about a minute, in Hindi or English. A quick safety check comes first, so anyone with danger signs goes straight to Emergency. We never ask for Aadhaar or ABHA. A 62-year-old is told her visit should be free, and staff confirm her age at the door.
Two: booking on a phone holds no place. You join the line when you reach the hospital, by scanning the code on the waiting-room screen. The code changes every two minutes, so nobody can hold a place from home, and the line stays fair to people standing in the hospital.
Three: when your turn comes, the phone and the waiting-room TV both call you, and the app shows the way to the room, the lab or the X-ray, with an Avoid stairs option.
All three phones are real screenshots of the app with sample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(about 25 seconds)
Patients, the waiting-room TV, the doctors and the front desk all see the same line, live. The TV calls each token aloud in Hindi and English, and shows tokens, never names. On the staff dashboard, an "I need urgent help" request appears in red with an alarm within a second, until someone marks it as seen.
Staff also get a crowd forecast. It uses live weather, air quality and traffic, local alerts such as a dengue outbreak, and this hospital’s own history. It learns, for example, that Mondays are busy and heavy rain keeps people home, so staff know tomorrow will be very busy and can open an extra counter.
Both pictures are real screens from the app with four weeks of sample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(about 25 seconds)
Many OPD patients are elderly, read Hindi better than English, or do not have a smartphone. So: you can just ask, by voice or by typing, in Hindi, Hinglish or English. "X-ray kahan hai?" is answered aloud, with a Show the way button. Google Gemini understands free-form questions, but urgent words like "chest pain" or "saans nahi" never reach the AI: they go straight to "Go to Emergency now". It never gives medical advice.
Every screen, alert and direction works in Hindi. And with a basic phone, you text your token to see your place, or KAHAN XRAY to find it, and the reply comes back in Hindi.
DEMO TIP
The /stage screen shows the patient phone, the basic phone, the TV board and the dashboard together. Try "X-ray kahan hai?" and an SMS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(about 25 seconds)
It is a full MERN app. The queue rules live in one engine that runs on the server, and the same file runs in the browser, so if the server goes down the screens keep working between tabs. Every screen updates live. Gemini powers the Ask helper. n8n brings in weather, air quality and live traffic for the forecast, and sends urgent alerts to staff on Telegram. Everything runs on free tiers.
Be straight about what is simulated: the hospital and patients are made up, SMS is shown on an on-screen basic phone because a real SMS gateway costs money, UPI is in demo mode (Razorpay test keys plug straight in), and PM-JAY claims are tracked but not sent to the PM-JAY portal.
Testing: npm run check passes all 12 groups of logic checks (queue, routes between all 1,860 pairs of places, forecast, roles, payments, PM-JAY, check-in, alerts, Emergency, Ask and SMS).
BEFORE YOU SUBMIT
The template asks you to list the tools you actually used, AI included. If you used an AI coding assistant, add it to Built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(about 20 seconds)
It helps the people who struggle most with today’s OPD: elders, first-time visitors and people more at home in Hindi, people without a smartphone, and the staff who handle hundreds of patients every morning. Next, we would pilot it in one district hospital OPD with its real rooms and timings, send real SMS through a gateway and add Urdu, Kashmiri and Dogri, and connect to the hospital’s records through ABDM and to the PM-JAY portal.
Keep "Next" to the three things you would genuinely build next, in order. Change any that are not yours.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(about 10 seconds)
We are [team name]. Open the link on your phone and register as a patient: you will have a token in under a minute. Thank you.
BEFORE YOU SUBMIT
Replace the team name, each [Name] and [Role] (delete a card if you are fewer than three), and both links. For a free live link, use Render + MongoDB Atlas (render.yaml is ready), and check each link in a private window. Share the deck as "Anyone with the link: Viewer" and paste that link into Deck URL on your HackCache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14213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5394960" cy="1005840"/>
          </a:xfrm>
          <a:prstGeom prst="rect">
            <a:avLst/>
          </a:prstGeom>
          <a:noFill/>
          <a:ln/>
        </p:spPr>
        <p:txBody>
          <a:bodyPr wrap="square" rtlCol="0"/>
          <a:lstStyle>
            <a:lvl1pPr algn="l" indent="0" marL="0">
              <a:buNone/>
              <a:defRPr lang="en-US" sz="6000" b="1" dirty="0">
                <a:solidFill>
                  <a:srgbClr val="FFFFFF"/>
                </a:solidFill>
              </a:defRPr>
            </a:lvl1pPr>
          </a:lstStyle>
          <a:p>
            <a:pPr algn="l" indent="0" marL="0">
              <a:buNone/>
            </a:pPr>
            <a:endParaRPr lang="en-US" sz="6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8046720" cy="548640"/>
          </a:xfrm>
          <a:prstGeom prst="rect">
            <a:avLst/>
          </a:prstGeom>
          <a:noFill/>
          <a:ln/>
        </p:spPr>
        <p:txBody>
          <a:bodyPr wrap="square" rtlCol="0"/>
          <a:lstStyle>
            <a:lvl1pPr algn="l" indent="0" marL="0">
              <a:buNone/>
              <a:defRPr lang="en-US" sz="2800" b="1" dirty="0">
                <a:solidFill>
                  <a:srgbClr val="14213D"/>
                </a:solidFill>
              </a:defRPr>
            </a:lvl1pPr>
          </a:lstStyle>
          <a:p>
            <a:pPr algn="l" indent="0" marL="0">
              <a:buNone/>
            </a:pPr>
            <a:endParaRPr lang="en-US" sz="2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PLI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5394960" cy="1005840"/>
          </a:xfrm>
          <a:prstGeom prst="rect">
            <a:avLst/>
          </a:prstGeom>
          <a:noFill/>
          <a:ln/>
        </p:spPr>
        <p:txBody>
          <a:bodyPr wrap="square" rtlCol="0"/>
          <a:lstStyle>
            <a:lvl1pPr algn="l" indent="0" marL="0">
              <a:buNone/>
              <a:defRPr lang="en-US" sz="2800" b="1" dirty="0">
                <a:solidFill>
                  <a:srgbClr val="14213D"/>
                </a:solidFill>
              </a:defRPr>
            </a:lvl1pPr>
          </a:lstStyle>
          <a:p>
            <a:pPr algn="l" indent="0" marL="0">
              <a:buNone/>
            </a:pPr>
            <a:endParaRPr lang="en-US" sz="28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LOSING">
    <p:bg>
      <p:bgPr>
        <a:solidFill>
          <a:srgbClr val="14213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5486400" cy="731520"/>
          </a:xfrm>
          <a:prstGeom prst="rect">
            <a:avLst/>
          </a:prstGeom>
          <a:noFill/>
          <a:ln/>
        </p:spPr>
        <p:txBody>
          <a:bodyPr wrap="square" rtlCol="0"/>
          <a:lstStyle>
            <a:lvl1pPr algn="l" indent="0" marL="0">
              <a:buNone/>
              <a:defRPr lang="en-US" sz="4000" b="1" dirty="0">
                <a:solidFill>
                  <a:srgbClr val="FFFFFF"/>
                </a:solidFill>
              </a:defRPr>
            </a:lvl1pPr>
          </a:lstStyle>
          <a:p>
            <a:pPr algn="l" indent="0" marL="0">
              <a:buNone/>
            </a:pP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1.png"/><Relationship Id="rId3" Type="http://schemas.openxmlformats.org/officeDocument/2006/relationships/image" Target="../media/image-3-1.png"/><Relationship Id="rId4" Type="http://schemas.openxmlformats.org/officeDocument/2006/relationships/image" Target="../media/image-3-4.png"/><Relationship Id="rId5" Type="http://schemas.openxmlformats.org/officeDocument/2006/relationships/slideLayout" Target="../slideLayouts/slideLayout4.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3.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2.png"/><Relationship Id="rId4" Type="http://schemas.openxmlformats.org/officeDocument/2006/relationships/image" Target="../media/image-9-2.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5.xml"/><Relationship Id="rId9"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cachedinfo and GCET Jammu">    </p:cNvPr>
          <p:cNvPicPr>
            <a:picLocks noChangeAspect="1"/>
          </p:cNvPicPr>
          <p:nvPr/>
        </p:nvPicPr>
        <p:blipFill>
          <a:blip r:embed="rId1"/>
          <a:stretch>
            <a:fillRect/>
          </a:stretch>
        </p:blipFill>
        <p:spPr>
          <a:xfrm>
            <a:off x="548640" y="384048"/>
            <a:ext cx="2450592" cy="347472"/>
          </a:xfrm>
          <a:prstGeom prst="rect">
            <a:avLst/>
          </a:prstGeom>
        </p:spPr>
      </p:pic>
      <p:pic>
        <p:nvPicPr>
          <p:cNvPr id="3" name="Image 1" descr="HackCache ’26">    </p:cNvPr>
          <p:cNvPicPr>
            <a:picLocks noChangeAspect="1"/>
          </p:cNvPicPr>
          <p:nvPr/>
        </p:nvPicPr>
        <p:blipFill>
          <a:blip r:embed="rId2"/>
          <a:stretch>
            <a:fillRect/>
          </a:stretch>
        </p:blipFill>
        <p:spPr>
          <a:xfrm>
            <a:off x="3273552" y="466344"/>
            <a:ext cx="2176272" cy="182880"/>
          </a:xfrm>
          <a:prstGeom prst="rect">
            <a:avLst/>
          </a:prstGeom>
        </p:spPr>
      </p:pic>
      <p:sp>
        <p:nvSpPr>
          <p:cNvPr id="4" name="Track pill"/>
          <p:cNvSpPr/>
          <p:nvPr/>
        </p:nvSpPr>
        <p:spPr>
          <a:xfrm>
            <a:off x="548640" y="987552"/>
            <a:ext cx="3931920" cy="329184"/>
          </a:xfrm>
          <a:prstGeom prst="roundRect">
            <a:avLst>
              <a:gd name="adj" fmla="val 41667"/>
            </a:avLst>
          </a:prstGeom>
          <a:solidFill>
            <a:srgbClr val="1D2D52"/>
          </a:solidFill>
          <a:ln w="12700">
            <a:solidFill>
              <a:srgbClr val="1D2D52"/>
            </a:solidFill>
            <a:prstDash val="solid"/>
          </a:ln>
        </p:spPr>
      </p:sp>
      <p:sp>
        <p:nvSpPr>
          <p:cNvPr id="5" name="Text 1"/>
          <p:cNvSpPr txBox="1"/>
          <p:nvPr/>
        </p:nvSpPr>
        <p:spPr>
          <a:xfrm>
            <a:off x="548640" y="987552"/>
            <a:ext cx="3931920" cy="329184"/>
          </a:xfrm>
          <a:prstGeom prst="rect">
            <a:avLst/>
          </a:prstGeom>
          <a:noFill/>
          <a:ln/>
        </p:spPr>
        <p:txBody>
          <a:bodyPr wrap="square" lIns="0" tIns="0" rIns="0" bIns="0" rtlCol="0" anchor="ctr"/>
          <a:lstStyle/>
          <a:p>
            <a:pPr algn="ctr" indent="0" marL="0">
              <a:buNone/>
            </a:pPr>
            <a:r>
              <a:rPr lang="en-US" sz="1100" b="1" dirty="0">
                <a:solidFill>
                  <a:srgbClr val="F0A43A"/>
                </a:solidFill>
              </a:rPr>
              <a:t>Reimagine Government  ·  Hospital queues, sorted</a:t>
            </a:r>
            <a:endParaRPr lang="en-US" sz="1100" dirty="0"/>
          </a:p>
        </p:txBody>
      </p:sp>
      <p:sp>
        <p:nvSpPr>
          <p:cNvPr id="6" name="Text 0"/>
          <p:cNvSpPr/>
          <p:nvPr>
            <p:ph idx="100" type="title" hasCustomPrompt="1"/>
          </p:nvPr>
        </p:nvSpPr>
        <p:spPr>
          <a:xfrm>
            <a:off x="548640" y="1417320"/>
            <a:ext cx="5394960" cy="1005840"/>
          </a:xfrm>
          <a:prstGeom prst="rect">
            <a:avLst/>
          </a:prstGeom>
          <a:noFill/>
          <a:ln/>
        </p:spPr>
        <p:txBody>
          <a:bodyPr wrap="square" lIns="0" tIns="0" rIns="0" bIns="0" rtlCol="0" anchor="t"/>
          <a:lstStyle/>
          <a:p>
            <a:pPr algn="l" indent="0" marL="0">
              <a:buNone/>
            </a:pPr>
            <a:r>
              <a:rPr lang="en-US" sz="6000" b="1" dirty="0">
                <a:solidFill>
                  <a:srgbClr val="FFFFFF"/>
                </a:solidFill>
              </a:rPr>
              <a:t>OPD Saathi</a:t>
            </a:r>
            <a:endParaRPr lang="en-US" sz="6000" dirty="0"/>
          </a:p>
        </p:txBody>
      </p:sp>
      <p:sp>
        <p:nvSpPr>
          <p:cNvPr id="7" name="Text 3"/>
          <p:cNvSpPr txBox="1"/>
          <p:nvPr/>
        </p:nvSpPr>
        <p:spPr>
          <a:xfrm>
            <a:off x="548640" y="2487168"/>
            <a:ext cx="5394960" cy="457200"/>
          </a:xfrm>
          <a:prstGeom prst="rect">
            <a:avLst/>
          </a:prstGeom>
          <a:noFill/>
          <a:ln/>
        </p:spPr>
        <p:txBody>
          <a:bodyPr wrap="square" lIns="0" tIns="0" rIns="0" bIns="0" rtlCol="0" anchor="t"/>
          <a:lstStyle/>
          <a:p>
            <a:pPr indent="0" marL="0">
              <a:buNone/>
            </a:pPr>
            <a:r>
              <a:rPr lang="en-US" sz="2400" dirty="0">
                <a:solidFill>
                  <a:srgbClr val="B9C8F2"/>
                </a:solidFill>
              </a:rPr>
              <a:t>Know your turn. Find your room.</a:t>
            </a:r>
            <a:endParaRPr lang="en-US" sz="2400" dirty="0"/>
          </a:p>
        </p:txBody>
      </p:sp>
      <p:sp>
        <p:nvSpPr>
          <p:cNvPr id="8" name="Text 4"/>
          <p:cNvSpPr txBox="1"/>
          <p:nvPr/>
        </p:nvSpPr>
        <p:spPr>
          <a:xfrm>
            <a:off x="548640" y="3108960"/>
            <a:ext cx="5120640" cy="868680"/>
          </a:xfrm>
          <a:prstGeom prst="rect">
            <a:avLst/>
          </a:prstGeom>
          <a:noFill/>
          <a:ln/>
        </p:spPr>
        <p:txBody>
          <a:bodyPr wrap="square" lIns="0" tIns="0" rIns="0" bIns="0" rtlCol="0" anchor="t"/>
          <a:lstStyle/>
          <a:p>
            <a:pPr indent="0" marL="0">
              <a:buNone/>
            </a:pPr>
            <a:r>
              <a:rPr lang="en-US" sz="1400" dirty="0">
                <a:solidFill>
                  <a:srgbClr val="C9D3EA"/>
                </a:solidFill>
              </a:rPr>
              <a:t>Patients register in Hindi or English, get a token, see how many people are ahead, and are guided to the right room. Staff see the whole OPD live, and the busy days coming.</a:t>
            </a:r>
            <a:endParaRPr lang="en-US" sz="1400" dirty="0"/>
          </a:p>
        </p:txBody>
      </p:sp>
      <p:sp>
        <p:nvSpPr>
          <p:cNvPr id="9" name="Text 5"/>
          <p:cNvSpPr txBox="1"/>
          <p:nvPr/>
        </p:nvSpPr>
        <p:spPr>
          <a:xfrm>
            <a:off x="548640" y="4251960"/>
            <a:ext cx="5394960" cy="274320"/>
          </a:xfrm>
          <a:prstGeom prst="rect">
            <a:avLst/>
          </a:prstGeom>
          <a:noFill/>
          <a:ln/>
        </p:spPr>
        <p:txBody>
          <a:bodyPr wrap="square" lIns="0" tIns="0" rIns="0" bIns="0" rtlCol="0" anchor="t"/>
          <a:lstStyle/>
          <a:p>
            <a:pPr indent="0" marL="0">
              <a:buNone/>
            </a:pPr>
            <a:r>
              <a:rPr lang="en-US" sz="1200" dirty="0">
                <a:solidFill>
                  <a:srgbClr val="9AA8C7"/>
                </a:solidFill>
              </a:rPr>
              <a:t>[Team name]  ·  [Member 1], [Member 2], [Member 3]</a:t>
            </a:r>
            <a:endParaRPr lang="en-US" sz="1200" dirty="0"/>
          </a:p>
        </p:txBody>
      </p:sp>
      <p:sp>
        <p:nvSpPr>
          <p:cNvPr id="10" name="Phone frame"/>
          <p:cNvSpPr/>
          <p:nvPr/>
        </p:nvSpPr>
        <p:spPr>
          <a:xfrm>
            <a:off x="6355080" y="384048"/>
            <a:ext cx="2063142" cy="4251960"/>
          </a:xfrm>
          <a:prstGeom prst="roundRect">
            <a:avLst>
              <a:gd name="adj" fmla="val 8864"/>
            </a:avLst>
          </a:prstGeom>
          <a:solidFill>
            <a:srgbClr val="0B1224"/>
          </a:solidFill>
          <a:ln w="12700">
            <a:solidFill>
              <a:srgbClr val="0B1224"/>
            </a:solidFill>
            <a:prstDash val="solid"/>
          </a:ln>
        </p:spPr>
      </p:sp>
      <p:pic>
        <p:nvPicPr>
          <p:cNvPr id="11" name="Image 2" descr="OPD Saathi on a phone: It is your turn! MED-010. Go to Room 1 on the first floor now.">    </p:cNvPr>
          <p:cNvPicPr>
            <a:picLocks noChangeAspect="1"/>
          </p:cNvPicPr>
          <p:nvPr/>
        </p:nvPicPr>
        <p:blipFill>
          <a:blip r:embed="rId3"/>
          <a:stretch>
            <a:fillRect/>
          </a:stretch>
        </p:blipFill>
        <p:spPr>
          <a:xfrm>
            <a:off x="6446520" y="475488"/>
            <a:ext cx="1880262" cy="4069080"/>
          </a:xfrm>
          <a:prstGeom prst="rect">
            <a:avLst/>
          </a:prstGeom>
        </p:spPr>
      </p:pic>
      <p:sp>
        <p:nvSpPr>
          <p:cNvPr id="12" name="Text 7"/>
          <p:cNvSpPr txBox="1"/>
          <p:nvPr/>
        </p:nvSpPr>
        <p:spPr>
          <a:xfrm>
            <a:off x="6172200" y="4709160"/>
            <a:ext cx="2428902" cy="228600"/>
          </a:xfrm>
          <a:prstGeom prst="rect">
            <a:avLst/>
          </a:prstGeom>
          <a:noFill/>
          <a:ln/>
        </p:spPr>
        <p:txBody>
          <a:bodyPr wrap="square" lIns="0" tIns="0" rIns="0" bIns="0" rtlCol="0" anchor="t"/>
          <a:lstStyle/>
          <a:p>
            <a:pPr algn="ctr" indent="0" marL="0">
              <a:buNone/>
            </a:pPr>
            <a:r>
              <a:rPr lang="en-US" sz="1000" dirty="0">
                <a:solidFill>
                  <a:srgbClr val="9AA8C7"/>
                </a:solidFill>
              </a:rPr>
              <a:t>Real app screen, sample data</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8046720" cy="548640"/>
          </a:xfrm>
          <a:prstGeom prst="rect">
            <a:avLst/>
          </a:prstGeom>
          <a:noFill/>
          <a:ln/>
        </p:spPr>
        <p:txBody>
          <a:bodyPr wrap="square" lIns="0" tIns="0" rIns="0" bIns="0" rtlCol="0" anchor="t"/>
          <a:lstStyle/>
          <a:p>
            <a:pPr algn="l" indent="0" marL="0">
              <a:buNone/>
            </a:pPr>
            <a:r>
              <a:rPr lang="en-US" sz="2800" b="1" dirty="0">
                <a:solidFill>
                  <a:srgbClr val="14213D"/>
                </a:solidFill>
              </a:rPr>
              <a:t>Long waits for a five-minute visit</a:t>
            </a:r>
            <a:endParaRPr lang="en-US" sz="2800" dirty="0"/>
          </a:p>
        </p:txBody>
      </p:sp>
      <p:sp>
        <p:nvSpPr>
          <p:cNvPr id="3" name="Visit card"/>
          <p:cNvSpPr/>
          <p:nvPr/>
        </p:nvSpPr>
        <p:spPr>
          <a:xfrm>
            <a:off x="548640" y="1234440"/>
            <a:ext cx="4480560" cy="3200400"/>
          </a:xfrm>
          <a:prstGeom prst="roundRect">
            <a:avLst>
              <a:gd name="adj" fmla="val 4286"/>
            </a:avLst>
          </a:prstGeom>
          <a:solidFill>
            <a:srgbClr val="EEF3F1"/>
          </a:solidFill>
          <a:ln w="12700">
            <a:solidFill>
              <a:srgbClr val="EEF3F1"/>
            </a:solidFill>
            <a:prstDash val="solid"/>
          </a:ln>
        </p:spPr>
      </p:sp>
      <p:sp>
        <p:nvSpPr>
          <p:cNvPr id="4" name="Text 2"/>
          <p:cNvSpPr txBox="1"/>
          <p:nvPr/>
        </p:nvSpPr>
        <p:spPr>
          <a:xfrm>
            <a:off x="822960" y="1463040"/>
            <a:ext cx="3931920" cy="320040"/>
          </a:xfrm>
          <a:prstGeom prst="rect">
            <a:avLst/>
          </a:prstGeom>
          <a:noFill/>
          <a:ln/>
        </p:spPr>
        <p:txBody>
          <a:bodyPr wrap="square" lIns="0" tIns="0" rIns="0" bIns="0" rtlCol="0" anchor="t"/>
          <a:lstStyle/>
          <a:p>
            <a:pPr indent="0" marL="0">
              <a:buNone/>
            </a:pPr>
            <a:r>
              <a:rPr lang="en-US" sz="1500" b="1" dirty="0">
                <a:solidFill>
                  <a:srgbClr val="1F2937"/>
                </a:solidFill>
              </a:rPr>
              <a:t>A morning at a busy OPD today</a:t>
            </a:r>
            <a:endParaRPr lang="en-US" sz="1500" dirty="0"/>
          </a:p>
        </p:txBody>
      </p:sp>
      <p:sp>
        <p:nvSpPr>
          <p:cNvPr id="5" name="Number circle"/>
          <p:cNvSpPr/>
          <p:nvPr/>
        </p:nvSpPr>
        <p:spPr>
          <a:xfrm>
            <a:off x="822960" y="1965960"/>
            <a:ext cx="347472" cy="347472"/>
          </a:xfrm>
          <a:prstGeom prst="ellipse">
            <a:avLst/>
          </a:prstGeom>
          <a:solidFill>
            <a:srgbClr val="14213D"/>
          </a:solidFill>
          <a:ln w="12700">
            <a:solidFill>
              <a:srgbClr val="14213D"/>
            </a:solidFill>
            <a:prstDash val="solid"/>
          </a:ln>
        </p:spPr>
      </p:sp>
      <p:sp>
        <p:nvSpPr>
          <p:cNvPr id="6" name="Text 4"/>
          <p:cNvSpPr txBox="1"/>
          <p:nvPr/>
        </p:nvSpPr>
        <p:spPr>
          <a:xfrm>
            <a:off x="822960" y="196596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7" name="Text 5"/>
          <p:cNvSpPr txBox="1"/>
          <p:nvPr/>
        </p:nvSpPr>
        <p:spPr>
          <a:xfrm>
            <a:off x="1325880" y="1911096"/>
            <a:ext cx="3520440" cy="457200"/>
          </a:xfrm>
          <a:prstGeom prst="rect">
            <a:avLst/>
          </a:prstGeom>
          <a:noFill/>
          <a:ln/>
        </p:spPr>
        <p:txBody>
          <a:bodyPr wrap="square" lIns="0" tIns="0" rIns="0" bIns="0" rtlCol="0" anchor="ctr"/>
          <a:lstStyle/>
          <a:p>
            <a:pPr indent="0" marL="0">
              <a:buNone/>
            </a:pPr>
            <a:r>
              <a:rPr lang="en-US" sz="1300" dirty="0">
                <a:solidFill>
                  <a:srgbClr val="1F2937"/>
                </a:solidFill>
              </a:rPr>
              <a:t>Queue at the counter just to get a slip</a:t>
            </a:r>
            <a:endParaRPr lang="en-US" sz="1300" dirty="0"/>
          </a:p>
        </p:txBody>
      </p:sp>
      <p:sp>
        <p:nvSpPr>
          <p:cNvPr id="8" name="Number circle"/>
          <p:cNvSpPr/>
          <p:nvPr/>
        </p:nvSpPr>
        <p:spPr>
          <a:xfrm>
            <a:off x="822960" y="2569464"/>
            <a:ext cx="347472" cy="347472"/>
          </a:xfrm>
          <a:prstGeom prst="ellipse">
            <a:avLst/>
          </a:prstGeom>
          <a:solidFill>
            <a:srgbClr val="14213D"/>
          </a:solidFill>
          <a:ln w="12700">
            <a:solidFill>
              <a:srgbClr val="14213D"/>
            </a:solidFill>
            <a:prstDash val="solid"/>
          </a:ln>
        </p:spPr>
      </p:sp>
      <p:sp>
        <p:nvSpPr>
          <p:cNvPr id="9" name="Text 7"/>
          <p:cNvSpPr txBox="1"/>
          <p:nvPr/>
        </p:nvSpPr>
        <p:spPr>
          <a:xfrm>
            <a:off x="822960" y="256946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0" name="Text 8"/>
          <p:cNvSpPr txBox="1"/>
          <p:nvPr/>
        </p:nvSpPr>
        <p:spPr>
          <a:xfrm>
            <a:off x="1325880" y="2514600"/>
            <a:ext cx="3520440" cy="457200"/>
          </a:xfrm>
          <a:prstGeom prst="rect">
            <a:avLst/>
          </a:prstGeom>
          <a:noFill/>
          <a:ln/>
        </p:spPr>
        <p:txBody>
          <a:bodyPr wrap="square" lIns="0" tIns="0" rIns="0" bIns="0" rtlCol="0" anchor="ctr"/>
          <a:lstStyle/>
          <a:p>
            <a:pPr indent="0" marL="0">
              <a:buNone/>
            </a:pPr>
            <a:r>
              <a:rPr lang="en-US" sz="1300" dirty="0">
                <a:solidFill>
                  <a:srgbClr val="1F2937"/>
                </a:solidFill>
              </a:rPr>
              <a:t>Wait without knowing how many are ahead</a:t>
            </a:r>
            <a:endParaRPr lang="en-US" sz="1300" dirty="0"/>
          </a:p>
        </p:txBody>
      </p:sp>
      <p:sp>
        <p:nvSpPr>
          <p:cNvPr id="11" name="Number circle"/>
          <p:cNvSpPr/>
          <p:nvPr/>
        </p:nvSpPr>
        <p:spPr>
          <a:xfrm>
            <a:off x="822960" y="3172968"/>
            <a:ext cx="347472" cy="347472"/>
          </a:xfrm>
          <a:prstGeom prst="ellipse">
            <a:avLst/>
          </a:prstGeom>
          <a:solidFill>
            <a:srgbClr val="14213D"/>
          </a:solidFill>
          <a:ln w="12700">
            <a:solidFill>
              <a:srgbClr val="14213D"/>
            </a:solidFill>
            <a:prstDash val="solid"/>
          </a:ln>
        </p:spPr>
      </p:sp>
      <p:sp>
        <p:nvSpPr>
          <p:cNvPr id="12" name="Text 10"/>
          <p:cNvSpPr txBox="1"/>
          <p:nvPr/>
        </p:nvSpPr>
        <p:spPr>
          <a:xfrm>
            <a:off x="822960" y="317296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13" name="Text 11"/>
          <p:cNvSpPr txBox="1"/>
          <p:nvPr/>
        </p:nvSpPr>
        <p:spPr>
          <a:xfrm>
            <a:off x="1325880" y="3118104"/>
            <a:ext cx="3520440" cy="457200"/>
          </a:xfrm>
          <a:prstGeom prst="rect">
            <a:avLst/>
          </a:prstGeom>
          <a:noFill/>
          <a:ln/>
        </p:spPr>
        <p:txBody>
          <a:bodyPr wrap="square" lIns="0" tIns="0" rIns="0" bIns="0" rtlCol="0" anchor="ctr"/>
          <a:lstStyle/>
          <a:p>
            <a:pPr indent="0" marL="0">
              <a:buNone/>
            </a:pPr>
            <a:r>
              <a:rPr lang="en-US" sz="1300" dirty="0">
                <a:solidFill>
                  <a:srgbClr val="1F2937"/>
                </a:solidFill>
              </a:rPr>
              <a:t>Hunt for the room, the lab or the X-ray</a:t>
            </a:r>
            <a:endParaRPr lang="en-US" sz="1300" dirty="0"/>
          </a:p>
        </p:txBody>
      </p:sp>
      <p:sp>
        <p:nvSpPr>
          <p:cNvPr id="14" name="Number circle"/>
          <p:cNvSpPr/>
          <p:nvPr/>
        </p:nvSpPr>
        <p:spPr>
          <a:xfrm>
            <a:off x="822960" y="3776472"/>
            <a:ext cx="347472" cy="347472"/>
          </a:xfrm>
          <a:prstGeom prst="ellipse">
            <a:avLst/>
          </a:prstGeom>
          <a:solidFill>
            <a:srgbClr val="14213D"/>
          </a:solidFill>
          <a:ln w="12700">
            <a:solidFill>
              <a:srgbClr val="14213D"/>
            </a:solidFill>
            <a:prstDash val="solid"/>
          </a:ln>
        </p:spPr>
      </p:sp>
      <p:sp>
        <p:nvSpPr>
          <p:cNvPr id="15" name="Text 13"/>
          <p:cNvSpPr txBox="1"/>
          <p:nvPr/>
        </p:nvSpPr>
        <p:spPr>
          <a:xfrm>
            <a:off x="822960" y="377647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16" name="Text 14"/>
          <p:cNvSpPr txBox="1"/>
          <p:nvPr/>
        </p:nvSpPr>
        <p:spPr>
          <a:xfrm>
            <a:off x="1325880" y="3721608"/>
            <a:ext cx="3520440" cy="457200"/>
          </a:xfrm>
          <a:prstGeom prst="rect">
            <a:avLst/>
          </a:prstGeom>
          <a:noFill/>
          <a:ln/>
        </p:spPr>
        <p:txBody>
          <a:bodyPr wrap="square" lIns="0" tIns="0" rIns="0" bIns="0" rtlCol="0" anchor="ctr"/>
          <a:lstStyle/>
          <a:p>
            <a:pPr indent="0" marL="0">
              <a:buNone/>
            </a:pPr>
            <a:r>
              <a:rPr lang="en-US" sz="1300" dirty="0">
                <a:solidFill>
                  <a:srgbClr val="1F2937"/>
                </a:solidFill>
              </a:rPr>
              <a:t>Miss your name being called, and start again</a:t>
            </a:r>
            <a:endParaRPr lang="en-US" sz="1300" dirty="0"/>
          </a:p>
        </p:txBody>
      </p:sp>
      <p:sp>
        <p:nvSpPr>
          <p:cNvPr id="17" name="Icon circle"/>
          <p:cNvSpPr/>
          <p:nvPr/>
        </p:nvSpPr>
        <p:spPr>
          <a:xfrm>
            <a:off x="5440680" y="1389888"/>
            <a:ext cx="502920" cy="502920"/>
          </a:xfrm>
          <a:prstGeom prst="ellipse">
            <a:avLst/>
          </a:prstGeom>
          <a:solidFill>
            <a:srgbClr val="F0A43A"/>
          </a:solidFill>
          <a:ln w="12700">
            <a:solidFill>
              <a:srgbClr val="F0A43A"/>
            </a:solidFill>
            <a:prstDash val="solid"/>
          </a:ln>
        </p:spPr>
      </p:sp>
      <p:pic>
        <p:nvPicPr>
          <p:cNvPr id="18" name="Image 0" descr="/private/tmp/claude-501/-Users-nitinraina-opd-saathi/23bdfde6-3033-4306-a6c1-bdd0b4752ee0/scratchpad/build/img/icon-LuHourglass.png">    </p:cNvPr>
          <p:cNvPicPr>
            <a:picLocks noChangeAspect="1"/>
          </p:cNvPicPr>
          <p:nvPr/>
        </p:nvPicPr>
        <p:blipFill>
          <a:blip r:embed="rId1"/>
          <a:stretch>
            <a:fillRect/>
          </a:stretch>
        </p:blipFill>
        <p:spPr>
          <a:xfrm>
            <a:off x="5561381" y="1510589"/>
            <a:ext cx="261518" cy="261518"/>
          </a:xfrm>
          <a:prstGeom prst="rect">
            <a:avLst/>
          </a:prstGeom>
        </p:spPr>
      </p:pic>
      <p:sp>
        <p:nvSpPr>
          <p:cNvPr id="19" name="Text 16"/>
          <p:cNvSpPr txBox="1"/>
          <p:nvPr/>
        </p:nvSpPr>
        <p:spPr>
          <a:xfrm>
            <a:off x="6126480" y="1280160"/>
            <a:ext cx="2468880" cy="731520"/>
          </a:xfrm>
          <a:prstGeom prst="rect">
            <a:avLst/>
          </a:prstGeom>
          <a:noFill/>
          <a:ln/>
        </p:spPr>
        <p:txBody>
          <a:bodyPr wrap="square" lIns="0" tIns="0" rIns="0" bIns="0" rtlCol="0" anchor="t"/>
          <a:lstStyle/>
          <a:p>
            <a:pPr indent="0" marL="0">
              <a:buNone/>
            </a:pPr>
            <a:r>
              <a:rPr lang="en-US" sz="4400" b="1" dirty="0">
                <a:solidFill>
                  <a:srgbClr val="14213D"/>
                </a:solidFill>
              </a:rPr>
              <a:t>62%</a:t>
            </a:r>
            <a:endParaRPr lang="en-US" sz="4400" dirty="0"/>
          </a:p>
        </p:txBody>
      </p:sp>
      <p:sp>
        <p:nvSpPr>
          <p:cNvPr id="20" name="Text 17"/>
          <p:cNvSpPr txBox="1"/>
          <p:nvPr/>
        </p:nvSpPr>
        <p:spPr>
          <a:xfrm>
            <a:off x="6126480" y="2011680"/>
            <a:ext cx="2468880" cy="731520"/>
          </a:xfrm>
          <a:prstGeom prst="rect">
            <a:avLst/>
          </a:prstGeom>
          <a:noFill/>
          <a:ln/>
        </p:spPr>
        <p:txBody>
          <a:bodyPr wrap="square" lIns="0" tIns="0" rIns="0" bIns="0" rtlCol="0" anchor="t"/>
          <a:lstStyle/>
          <a:p>
            <a:pPr indent="0" marL="0">
              <a:buNone/>
            </a:pPr>
            <a:r>
              <a:rPr lang="en-US" sz="1200" dirty="0">
                <a:solidFill>
                  <a:srgbClr val="5E6B7E"/>
                </a:solidFill>
              </a:rPr>
              <a:t>of patients surveyed at J&amp;K’s big (tertiary) hospitals waited over 30 minutes to see a doctor</a:t>
            </a:r>
            <a:endParaRPr lang="en-US" sz="1200" dirty="0"/>
          </a:p>
        </p:txBody>
      </p:sp>
      <p:sp>
        <p:nvSpPr>
          <p:cNvPr id="21" name="Icon circle"/>
          <p:cNvSpPr/>
          <p:nvPr/>
        </p:nvSpPr>
        <p:spPr>
          <a:xfrm>
            <a:off x="5440680" y="2990088"/>
            <a:ext cx="502920" cy="502920"/>
          </a:xfrm>
          <a:prstGeom prst="ellipse">
            <a:avLst/>
          </a:prstGeom>
          <a:solidFill>
            <a:srgbClr val="F0A43A"/>
          </a:solidFill>
          <a:ln w="12700">
            <a:solidFill>
              <a:srgbClr val="F0A43A"/>
            </a:solidFill>
            <a:prstDash val="solid"/>
          </a:ln>
        </p:spPr>
      </p:sp>
      <p:pic>
        <p:nvPicPr>
          <p:cNvPr id="22" name="Image 1" descr="/private/tmp/claude-501/-Users-nitinraina-opd-saathi/23bdfde6-3033-4306-a6c1-bdd0b4752ee0/scratchpad/build/img/icon-LuStethoscope.png">    </p:cNvPr>
          <p:cNvPicPr>
            <a:picLocks noChangeAspect="1"/>
          </p:cNvPicPr>
          <p:nvPr/>
        </p:nvPicPr>
        <p:blipFill>
          <a:blip r:embed="rId2"/>
          <a:stretch>
            <a:fillRect/>
          </a:stretch>
        </p:blipFill>
        <p:spPr>
          <a:xfrm>
            <a:off x="5561381" y="3110789"/>
            <a:ext cx="261518" cy="261518"/>
          </a:xfrm>
          <a:prstGeom prst="rect">
            <a:avLst/>
          </a:prstGeom>
        </p:spPr>
      </p:pic>
      <p:sp>
        <p:nvSpPr>
          <p:cNvPr id="23" name="Text 19"/>
          <p:cNvSpPr txBox="1"/>
          <p:nvPr/>
        </p:nvSpPr>
        <p:spPr>
          <a:xfrm>
            <a:off x="6126480" y="2880360"/>
            <a:ext cx="2468880" cy="731520"/>
          </a:xfrm>
          <a:prstGeom prst="rect">
            <a:avLst/>
          </a:prstGeom>
          <a:noFill/>
          <a:ln/>
        </p:spPr>
        <p:txBody>
          <a:bodyPr wrap="square" lIns="0" tIns="0" rIns="0" bIns="0" rtlCol="0" anchor="t"/>
          <a:lstStyle/>
          <a:p>
            <a:pPr indent="0" marL="0">
              <a:buNone/>
            </a:pPr>
            <a:r>
              <a:rPr lang="en-US" sz="4400" b="1" dirty="0">
                <a:solidFill>
                  <a:srgbClr val="14213D"/>
                </a:solidFill>
              </a:rPr>
              <a:t>58%</a:t>
            </a:r>
            <a:endParaRPr lang="en-US" sz="4400" dirty="0"/>
          </a:p>
        </p:txBody>
      </p:sp>
      <p:sp>
        <p:nvSpPr>
          <p:cNvPr id="24" name="Text 20"/>
          <p:cNvSpPr txBox="1"/>
          <p:nvPr/>
        </p:nvSpPr>
        <p:spPr>
          <a:xfrm>
            <a:off x="6126480" y="3611880"/>
            <a:ext cx="2468880" cy="731520"/>
          </a:xfrm>
          <a:prstGeom prst="rect">
            <a:avLst/>
          </a:prstGeom>
          <a:noFill/>
          <a:ln/>
        </p:spPr>
        <p:txBody>
          <a:bodyPr wrap="square" lIns="0" tIns="0" rIns="0" bIns="0" rtlCol="0" anchor="t"/>
          <a:lstStyle/>
          <a:p>
            <a:pPr indent="0" marL="0">
              <a:buNone/>
            </a:pPr>
            <a:r>
              <a:rPr lang="en-US" sz="1200" dirty="0">
                <a:solidFill>
                  <a:srgbClr val="5E6B7E"/>
                </a:solidFill>
              </a:rPr>
              <a:t>of OPD patients in J&amp;K were examined by a doctor for less than five minutes</a:t>
            </a:r>
            <a:endParaRPr lang="en-US" sz="1200" dirty="0"/>
          </a:p>
        </p:txBody>
      </p:sp>
      <p:sp>
        <p:nvSpPr>
          <p:cNvPr id="25" name="Text 21"/>
          <p:cNvSpPr txBox="1"/>
          <p:nvPr/>
        </p:nvSpPr>
        <p:spPr>
          <a:xfrm>
            <a:off x="548640" y="4572000"/>
            <a:ext cx="8046720" cy="365760"/>
          </a:xfrm>
          <a:prstGeom prst="rect">
            <a:avLst/>
          </a:prstGeom>
          <a:noFill/>
          <a:ln/>
        </p:spPr>
        <p:txBody>
          <a:bodyPr wrap="square" lIns="0" tIns="0" rIns="0" bIns="0" rtlCol="0" anchor="t"/>
          <a:lstStyle/>
          <a:p>
            <a:pPr indent="0" marL="0">
              <a:buNone/>
            </a:pPr>
            <a:r>
              <a:rPr lang="en-US" sz="1000" dirty="0">
                <a:solidFill>
                  <a:srgbClr val="5E6B7E"/>
                </a:solidFill>
              </a:rPr>
              <a:t>Source: CAG of India, Report No. 2 of 2025 (Jammu &amp; Kashmir), Public Health Infrastructure and Management of Health Services: a survey of 750 outpatients, and OPD records for 2016–22.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5394960" cy="1005840"/>
          </a:xfrm>
          <a:prstGeom prst="rect">
            <a:avLst/>
          </a:prstGeom>
          <a:noFill/>
          <a:ln/>
        </p:spPr>
        <p:txBody>
          <a:bodyPr wrap="square" lIns="0" tIns="0" rIns="0" bIns="0" rtlCol="0" anchor="t"/>
          <a:lstStyle/>
          <a:p>
            <a:pPr algn="l" indent="0" marL="0">
              <a:buNone/>
            </a:pPr>
            <a:r>
              <a:rPr lang="en-US" sz="2800" b="1" dirty="0">
                <a:solidFill>
                  <a:srgbClr val="14213D"/>
                </a:solidFill>
              </a:rPr>
              <a:t>Register once. Know your turn. Find the room.</a:t>
            </a:r>
            <a:endParaRPr lang="en-US" sz="2800" dirty="0"/>
          </a:p>
        </p:txBody>
      </p:sp>
      <p:sp>
        <p:nvSpPr>
          <p:cNvPr id="3" name="Text 1"/>
          <p:cNvSpPr txBox="1"/>
          <p:nvPr/>
        </p:nvSpPr>
        <p:spPr>
          <a:xfrm>
            <a:off x="548640" y="1600200"/>
            <a:ext cx="5120640" cy="1005840"/>
          </a:xfrm>
          <a:prstGeom prst="rect">
            <a:avLst/>
          </a:prstGeom>
          <a:noFill/>
          <a:ln/>
        </p:spPr>
        <p:txBody>
          <a:bodyPr wrap="square" lIns="0" tIns="0" rIns="0" bIns="0" rtlCol="0" anchor="t"/>
          <a:lstStyle/>
          <a:p>
            <a:pPr indent="0" marL="0">
              <a:buNone/>
            </a:pPr>
            <a:r>
              <a:rPr lang="en-US" sz="1500" dirty="0">
                <a:solidFill>
                  <a:srgbClr val="1F2937"/>
                </a:solidFill>
              </a:rPr>
              <a:t>OPD Saathi gives every patient a token, shows how many people are ahead and about how long it will take, warns them when their turn is close, and gives step-by-step directions to the room.</a:t>
            </a:r>
            <a:endParaRPr lang="en-US" sz="1500" dirty="0"/>
          </a:p>
        </p:txBody>
      </p:sp>
      <p:sp>
        <p:nvSpPr>
          <p:cNvPr id="4" name="Icon circle"/>
          <p:cNvSpPr/>
          <p:nvPr/>
        </p:nvSpPr>
        <p:spPr>
          <a:xfrm>
            <a:off x="548640" y="2788920"/>
            <a:ext cx="365760" cy="365760"/>
          </a:xfrm>
          <a:prstGeom prst="ellipse">
            <a:avLst/>
          </a:prstGeom>
          <a:solidFill>
            <a:srgbClr val="0B6B4F"/>
          </a:solidFill>
          <a:ln w="12700">
            <a:solidFill>
              <a:srgbClr val="0B6B4F"/>
            </a:solidFill>
            <a:prstDash val="solid"/>
          </a:ln>
        </p:spPr>
      </p:sp>
      <p:pic>
        <p:nvPicPr>
          <p:cNvPr id="5" name="Image 0" descr="/private/tmp/claude-501/-Users-nitinraina-opd-saathi/23bdfde6-3033-4306-a6c1-bdd0b4752ee0/scratchpad/build/img/icon-LuCheck.png">    </p:cNvPr>
          <p:cNvPicPr>
            <a:picLocks noChangeAspect="1"/>
          </p:cNvPicPr>
          <p:nvPr/>
        </p:nvPicPr>
        <p:blipFill>
          <a:blip r:embed="rId1"/>
          <a:stretch>
            <a:fillRect/>
          </a:stretch>
        </p:blipFill>
        <p:spPr>
          <a:xfrm>
            <a:off x="630936" y="2871216"/>
            <a:ext cx="201168" cy="201168"/>
          </a:xfrm>
          <a:prstGeom prst="rect">
            <a:avLst/>
          </a:prstGeom>
        </p:spPr>
      </p:pic>
      <p:sp>
        <p:nvSpPr>
          <p:cNvPr id="6" name="Text 3"/>
          <p:cNvSpPr txBox="1"/>
          <p:nvPr/>
        </p:nvSpPr>
        <p:spPr>
          <a:xfrm>
            <a:off x="1097280" y="2788920"/>
            <a:ext cx="4389120" cy="365760"/>
          </a:xfrm>
          <a:prstGeom prst="rect">
            <a:avLst/>
          </a:prstGeom>
          <a:noFill/>
          <a:ln/>
        </p:spPr>
        <p:txBody>
          <a:bodyPr wrap="square" lIns="0" tIns="0" rIns="0" bIns="0" rtlCol="0" anchor="ctr"/>
          <a:lstStyle/>
          <a:p>
            <a:pPr indent="0" marL="0">
              <a:buNone/>
            </a:pPr>
            <a:r>
              <a:rPr lang="en-US" sz="1400" dirty="0">
                <a:solidFill>
                  <a:srgbClr val="1F2937"/>
                </a:solidFill>
              </a:rPr>
              <a:t>Hindi or English, by voice or by touch</a:t>
            </a:r>
            <a:endParaRPr lang="en-US" sz="1400" dirty="0"/>
          </a:p>
        </p:txBody>
      </p:sp>
      <p:sp>
        <p:nvSpPr>
          <p:cNvPr id="7" name="Icon circle"/>
          <p:cNvSpPr/>
          <p:nvPr/>
        </p:nvSpPr>
        <p:spPr>
          <a:xfrm>
            <a:off x="548640" y="3355848"/>
            <a:ext cx="365760" cy="365760"/>
          </a:xfrm>
          <a:prstGeom prst="ellipse">
            <a:avLst/>
          </a:prstGeom>
          <a:solidFill>
            <a:srgbClr val="0B6B4F"/>
          </a:solidFill>
          <a:ln w="12700">
            <a:solidFill>
              <a:srgbClr val="0B6B4F"/>
            </a:solidFill>
            <a:prstDash val="solid"/>
          </a:ln>
        </p:spPr>
      </p:sp>
      <p:pic>
        <p:nvPicPr>
          <p:cNvPr id="8" name="Image 1" descr="/private/tmp/claude-501/-Users-nitinraina-opd-saathi/23bdfde6-3033-4306-a6c1-bdd0b4752ee0/scratchpad/build/img/icon-LuCheck.png">    </p:cNvPr>
          <p:cNvPicPr>
            <a:picLocks noChangeAspect="1"/>
          </p:cNvPicPr>
          <p:nvPr/>
        </p:nvPicPr>
        <p:blipFill>
          <a:blip r:embed="rId2"/>
          <a:stretch>
            <a:fillRect/>
          </a:stretch>
        </p:blipFill>
        <p:spPr>
          <a:xfrm>
            <a:off x="630936" y="3438144"/>
            <a:ext cx="201168" cy="201168"/>
          </a:xfrm>
          <a:prstGeom prst="rect">
            <a:avLst/>
          </a:prstGeom>
        </p:spPr>
      </p:pic>
      <p:sp>
        <p:nvSpPr>
          <p:cNvPr id="9" name="Text 5"/>
          <p:cNvSpPr txBox="1"/>
          <p:nvPr/>
        </p:nvSpPr>
        <p:spPr>
          <a:xfrm>
            <a:off x="1097280" y="3355848"/>
            <a:ext cx="4389120" cy="365760"/>
          </a:xfrm>
          <a:prstGeom prst="rect">
            <a:avLst/>
          </a:prstGeom>
          <a:noFill/>
          <a:ln/>
        </p:spPr>
        <p:txBody>
          <a:bodyPr wrap="square" lIns="0" tIns="0" rIns="0" bIns="0" rtlCol="0" anchor="ctr"/>
          <a:lstStyle/>
          <a:p>
            <a:pPr indent="0" marL="0">
              <a:buNone/>
            </a:pPr>
            <a:r>
              <a:rPr lang="en-US" sz="1400" dirty="0">
                <a:solidFill>
                  <a:srgbClr val="1F2937"/>
                </a:solidFill>
              </a:rPr>
              <a:t>Works on a basic phone too, by SMS</a:t>
            </a:r>
            <a:endParaRPr lang="en-US" sz="1400" dirty="0"/>
          </a:p>
        </p:txBody>
      </p:sp>
      <p:sp>
        <p:nvSpPr>
          <p:cNvPr id="10" name="Icon circle"/>
          <p:cNvSpPr/>
          <p:nvPr/>
        </p:nvSpPr>
        <p:spPr>
          <a:xfrm>
            <a:off x="548640" y="3922776"/>
            <a:ext cx="365760" cy="365760"/>
          </a:xfrm>
          <a:prstGeom prst="ellipse">
            <a:avLst/>
          </a:prstGeom>
          <a:solidFill>
            <a:srgbClr val="0B6B4F"/>
          </a:solidFill>
          <a:ln w="12700">
            <a:solidFill>
              <a:srgbClr val="0B6B4F"/>
            </a:solidFill>
            <a:prstDash val="solid"/>
          </a:ln>
        </p:spPr>
      </p:sp>
      <p:pic>
        <p:nvPicPr>
          <p:cNvPr id="11" name="Image 2" descr="/private/tmp/claude-501/-Users-nitinraina-opd-saathi/23bdfde6-3033-4306-a6c1-bdd0b4752ee0/scratchpad/build/img/icon-LuCheck.png">    </p:cNvPr>
          <p:cNvPicPr>
            <a:picLocks noChangeAspect="1"/>
          </p:cNvPicPr>
          <p:nvPr/>
        </p:nvPicPr>
        <p:blipFill>
          <a:blip r:embed="rId3"/>
          <a:stretch>
            <a:fillRect/>
          </a:stretch>
        </p:blipFill>
        <p:spPr>
          <a:xfrm>
            <a:off x="630936" y="4005072"/>
            <a:ext cx="201168" cy="201168"/>
          </a:xfrm>
          <a:prstGeom prst="rect">
            <a:avLst/>
          </a:prstGeom>
        </p:spPr>
      </p:pic>
      <p:sp>
        <p:nvSpPr>
          <p:cNvPr id="12" name="Text 7"/>
          <p:cNvSpPr txBox="1"/>
          <p:nvPr/>
        </p:nvSpPr>
        <p:spPr>
          <a:xfrm>
            <a:off x="1097280" y="3922776"/>
            <a:ext cx="4389120" cy="365760"/>
          </a:xfrm>
          <a:prstGeom prst="rect">
            <a:avLst/>
          </a:prstGeom>
          <a:noFill/>
          <a:ln/>
        </p:spPr>
        <p:txBody>
          <a:bodyPr wrap="square" lIns="0" tIns="0" rIns="0" bIns="0" rtlCol="0" anchor="ctr"/>
          <a:lstStyle/>
          <a:p>
            <a:pPr indent="0" marL="0">
              <a:buNone/>
            </a:pPr>
            <a:r>
              <a:rPr lang="en-US" sz="1400" dirty="0">
                <a:solidFill>
                  <a:srgbClr val="1F2937"/>
                </a:solidFill>
              </a:rPr>
              <a:t>Emergency is one tap away, and never waits</a:t>
            </a:r>
            <a:endParaRPr lang="en-US" sz="1400" dirty="0"/>
          </a:p>
        </p:txBody>
      </p:sp>
      <p:sp>
        <p:nvSpPr>
          <p:cNvPr id="13" name="Phone frame"/>
          <p:cNvSpPr/>
          <p:nvPr/>
        </p:nvSpPr>
        <p:spPr>
          <a:xfrm>
            <a:off x="6355080" y="384048"/>
            <a:ext cx="2063142" cy="4251960"/>
          </a:xfrm>
          <a:prstGeom prst="roundRect">
            <a:avLst>
              <a:gd name="adj" fmla="val 8864"/>
            </a:avLst>
          </a:prstGeom>
          <a:solidFill>
            <a:srgbClr val="0B1224"/>
          </a:solidFill>
          <a:ln w="12700">
            <a:solidFill>
              <a:srgbClr val="0B1224"/>
            </a:solidFill>
            <a:prstDash val="solid"/>
          </a:ln>
        </p:spPr>
      </p:sp>
      <p:pic>
        <p:nvPicPr>
          <p:cNvPr id="14" name="Image 3" descr="My turn screen: Your turn is close. MED-010, 2 people ahead of you, about 5 minutes.">    </p:cNvPr>
          <p:cNvPicPr>
            <a:picLocks noChangeAspect="1"/>
          </p:cNvPicPr>
          <p:nvPr/>
        </p:nvPicPr>
        <p:blipFill>
          <a:blip r:embed="rId4"/>
          <a:stretch>
            <a:fillRect/>
          </a:stretch>
        </p:blipFill>
        <p:spPr>
          <a:xfrm>
            <a:off x="6446520" y="475488"/>
            <a:ext cx="1880262" cy="4069080"/>
          </a:xfrm>
          <a:prstGeom prst="rect">
            <a:avLst/>
          </a:prstGeom>
        </p:spPr>
      </p:pic>
      <p:sp>
        <p:nvSpPr>
          <p:cNvPr id="15" name="Text 9"/>
          <p:cNvSpPr txBox="1"/>
          <p:nvPr/>
        </p:nvSpPr>
        <p:spPr>
          <a:xfrm>
            <a:off x="6172200" y="4709160"/>
            <a:ext cx="2428902" cy="228600"/>
          </a:xfrm>
          <a:prstGeom prst="rect">
            <a:avLst/>
          </a:prstGeom>
          <a:noFill/>
          <a:ln/>
        </p:spPr>
        <p:txBody>
          <a:bodyPr wrap="square" lIns="0" tIns="0" rIns="0" bIns="0" rtlCol="0" anchor="t"/>
          <a:lstStyle/>
          <a:p>
            <a:pPr algn="ctr" indent="0" marL="0">
              <a:buNone/>
            </a:pPr>
            <a:r>
              <a:rPr lang="en-US" sz="1000" dirty="0">
                <a:solidFill>
                  <a:srgbClr val="5E6B7E"/>
                </a:solidFill>
              </a:rPr>
              <a:t>Real app screen, sample data</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8046720" cy="548640"/>
          </a:xfrm>
          <a:prstGeom prst="rect">
            <a:avLst/>
          </a:prstGeom>
          <a:noFill/>
          <a:ln/>
        </p:spPr>
        <p:txBody>
          <a:bodyPr wrap="square" lIns="0" tIns="0" rIns="0" bIns="0" rtlCol="0" anchor="t"/>
          <a:lstStyle/>
          <a:p>
            <a:pPr algn="l" indent="0" marL="0">
              <a:buNone/>
            </a:pPr>
            <a:r>
              <a:rPr lang="en-US" sz="2800" b="1" dirty="0">
                <a:solidFill>
                  <a:srgbClr val="14213D"/>
                </a:solidFill>
              </a:rPr>
              <a:t>Three steps to the doctor’s door</a:t>
            </a:r>
            <a:endParaRPr lang="en-US" sz="2800" dirty="0"/>
          </a:p>
        </p:txBody>
      </p:sp>
      <p:sp>
        <p:nvSpPr>
          <p:cNvPr id="3" name="Number circle"/>
          <p:cNvSpPr/>
          <p:nvPr/>
        </p:nvSpPr>
        <p:spPr>
          <a:xfrm>
            <a:off x="548640" y="1078992"/>
            <a:ext cx="347472" cy="347472"/>
          </a:xfrm>
          <a:prstGeom prst="ellipse">
            <a:avLst/>
          </a:prstGeom>
          <a:solidFill>
            <a:srgbClr val="0B6B4F"/>
          </a:solidFill>
          <a:ln w="12700">
            <a:solidFill>
              <a:srgbClr val="0B6B4F"/>
            </a:solidFill>
            <a:prstDash val="solid"/>
          </a:ln>
        </p:spPr>
      </p:sp>
      <p:sp>
        <p:nvSpPr>
          <p:cNvPr id="4" name="Text 2"/>
          <p:cNvSpPr txBox="1"/>
          <p:nvPr/>
        </p:nvSpPr>
        <p:spPr>
          <a:xfrm>
            <a:off x="548640" y="107899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5" name="Text 3"/>
          <p:cNvSpPr txBox="1"/>
          <p:nvPr/>
        </p:nvSpPr>
        <p:spPr>
          <a:xfrm>
            <a:off x="1005840" y="1024128"/>
            <a:ext cx="2194560" cy="457200"/>
          </a:xfrm>
          <a:prstGeom prst="rect">
            <a:avLst/>
          </a:prstGeom>
          <a:noFill/>
          <a:ln/>
        </p:spPr>
        <p:txBody>
          <a:bodyPr wrap="square" lIns="0" tIns="0" rIns="0" bIns="0" rtlCol="0" anchor="ctr"/>
          <a:lstStyle/>
          <a:p>
            <a:pPr indent="0" marL="0">
              <a:buNone/>
            </a:pPr>
            <a:r>
              <a:rPr lang="en-US" sz="1200" b="1" dirty="0">
                <a:solidFill>
                  <a:srgbClr val="1F2937"/>
                </a:solidFill>
              </a:rPr>
              <a:t>Register in Hindi or English</a:t>
            </a:r>
            <a:endParaRPr lang="en-US" sz="1200" dirty="0"/>
          </a:p>
        </p:txBody>
      </p:sp>
      <p:sp>
        <p:nvSpPr>
          <p:cNvPr id="6" name="Phone frame"/>
          <p:cNvSpPr/>
          <p:nvPr/>
        </p:nvSpPr>
        <p:spPr>
          <a:xfrm>
            <a:off x="960120" y="1572768"/>
            <a:ext cx="1589908" cy="3227832"/>
          </a:xfrm>
          <a:prstGeom prst="roundRect">
            <a:avLst>
              <a:gd name="adj" fmla="val 11503"/>
            </a:avLst>
          </a:prstGeom>
          <a:solidFill>
            <a:srgbClr val="0B1224"/>
          </a:solidFill>
          <a:ln w="12700">
            <a:solidFill>
              <a:srgbClr val="0B1224"/>
            </a:solidFill>
            <a:prstDash val="solid"/>
          </a:ln>
        </p:spPr>
      </p:sp>
      <p:pic>
        <p:nvPicPr>
          <p:cNvPr id="7" name="Image 0" descr="Registration, step 5 of 6: Which doctor do you need? General Medicine chosen.">    </p:cNvPr>
          <p:cNvPicPr>
            <a:picLocks noChangeAspect="1"/>
          </p:cNvPicPr>
          <p:nvPr/>
        </p:nvPicPr>
        <p:blipFill>
          <a:blip r:embed="rId1"/>
          <a:stretch>
            <a:fillRect/>
          </a:stretch>
        </p:blipFill>
        <p:spPr>
          <a:xfrm>
            <a:off x="1051560" y="1664208"/>
            <a:ext cx="1407028" cy="3044952"/>
          </a:xfrm>
          <a:prstGeom prst="rect">
            <a:avLst/>
          </a:prstGeom>
        </p:spPr>
      </p:pic>
      <p:sp>
        <p:nvSpPr>
          <p:cNvPr id="8" name="Number circle"/>
          <p:cNvSpPr/>
          <p:nvPr/>
        </p:nvSpPr>
        <p:spPr>
          <a:xfrm>
            <a:off x="3291840" y="1078992"/>
            <a:ext cx="347472" cy="347472"/>
          </a:xfrm>
          <a:prstGeom prst="ellipse">
            <a:avLst/>
          </a:prstGeom>
          <a:solidFill>
            <a:srgbClr val="0B6B4F"/>
          </a:solidFill>
          <a:ln w="12700">
            <a:solidFill>
              <a:srgbClr val="0B6B4F"/>
            </a:solidFill>
            <a:prstDash val="solid"/>
          </a:ln>
        </p:spPr>
      </p:sp>
      <p:sp>
        <p:nvSpPr>
          <p:cNvPr id="9" name="Text 6"/>
          <p:cNvSpPr txBox="1"/>
          <p:nvPr/>
        </p:nvSpPr>
        <p:spPr>
          <a:xfrm>
            <a:off x="3291840" y="107899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0" name="Text 7"/>
          <p:cNvSpPr txBox="1"/>
          <p:nvPr/>
        </p:nvSpPr>
        <p:spPr>
          <a:xfrm>
            <a:off x="3749040" y="1024128"/>
            <a:ext cx="2194560" cy="457200"/>
          </a:xfrm>
          <a:prstGeom prst="rect">
            <a:avLst/>
          </a:prstGeom>
          <a:noFill/>
          <a:ln/>
        </p:spPr>
        <p:txBody>
          <a:bodyPr wrap="square" lIns="0" tIns="0" rIns="0" bIns="0" rtlCol="0" anchor="ctr"/>
          <a:lstStyle/>
          <a:p>
            <a:pPr indent="0" marL="0">
              <a:buNone/>
            </a:pPr>
            <a:r>
              <a:rPr lang="en-US" sz="1200" b="1" dirty="0">
                <a:solidFill>
                  <a:srgbClr val="1F2937"/>
                </a:solidFill>
              </a:rPr>
              <a:t>Scan the screen to join the line</a:t>
            </a:r>
            <a:endParaRPr lang="en-US" sz="1200" dirty="0"/>
          </a:p>
        </p:txBody>
      </p:sp>
      <p:sp>
        <p:nvSpPr>
          <p:cNvPr id="11" name="Phone frame"/>
          <p:cNvSpPr/>
          <p:nvPr/>
        </p:nvSpPr>
        <p:spPr>
          <a:xfrm>
            <a:off x="3703320" y="1572768"/>
            <a:ext cx="1589908" cy="3227832"/>
          </a:xfrm>
          <a:prstGeom prst="roundRect">
            <a:avLst>
              <a:gd name="adj" fmla="val 11503"/>
            </a:avLst>
          </a:prstGeom>
          <a:solidFill>
            <a:srgbClr val="0B1224"/>
          </a:solidFill>
          <a:ln w="12700">
            <a:solidFill>
              <a:srgbClr val="0B1224"/>
            </a:solidFill>
            <a:prstDash val="solid"/>
          </a:ln>
        </p:spPr>
      </p:sp>
      <p:pic>
        <p:nvPicPr>
          <p:cNvPr id="12" name="Image 1" descr="OPD slip: token MED-010, General Medicine, Room 1 or Room 2 on the first floor, 6 people ahead, about 20 minutes.">    </p:cNvPr>
          <p:cNvPicPr>
            <a:picLocks noChangeAspect="1"/>
          </p:cNvPicPr>
          <p:nvPr/>
        </p:nvPicPr>
        <p:blipFill>
          <a:blip r:embed="rId2"/>
          <a:stretch>
            <a:fillRect/>
          </a:stretch>
        </p:blipFill>
        <p:spPr>
          <a:xfrm>
            <a:off x="3794760" y="1664208"/>
            <a:ext cx="1407028" cy="3044952"/>
          </a:xfrm>
          <a:prstGeom prst="rect">
            <a:avLst/>
          </a:prstGeom>
        </p:spPr>
      </p:pic>
      <p:sp>
        <p:nvSpPr>
          <p:cNvPr id="13" name="Number circle"/>
          <p:cNvSpPr/>
          <p:nvPr/>
        </p:nvSpPr>
        <p:spPr>
          <a:xfrm>
            <a:off x="6035040" y="1078992"/>
            <a:ext cx="347472" cy="347472"/>
          </a:xfrm>
          <a:prstGeom prst="ellipse">
            <a:avLst/>
          </a:prstGeom>
          <a:solidFill>
            <a:srgbClr val="0B6B4F"/>
          </a:solidFill>
          <a:ln w="12700">
            <a:solidFill>
              <a:srgbClr val="0B6B4F"/>
            </a:solidFill>
            <a:prstDash val="solid"/>
          </a:ln>
        </p:spPr>
      </p:sp>
      <p:sp>
        <p:nvSpPr>
          <p:cNvPr id="14" name="Text 10"/>
          <p:cNvSpPr txBox="1"/>
          <p:nvPr/>
        </p:nvSpPr>
        <p:spPr>
          <a:xfrm>
            <a:off x="6035040" y="107899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5" name="Text 11"/>
          <p:cNvSpPr txBox="1"/>
          <p:nvPr/>
        </p:nvSpPr>
        <p:spPr>
          <a:xfrm>
            <a:off x="6492240" y="1024128"/>
            <a:ext cx="2194560" cy="457200"/>
          </a:xfrm>
          <a:prstGeom prst="rect">
            <a:avLst/>
          </a:prstGeom>
          <a:noFill/>
          <a:ln/>
        </p:spPr>
        <p:txBody>
          <a:bodyPr wrap="square" lIns="0" tIns="0" rIns="0" bIns="0" rtlCol="0" anchor="ctr"/>
          <a:lstStyle/>
          <a:p>
            <a:pPr indent="0" marL="0">
              <a:buNone/>
            </a:pPr>
            <a:r>
              <a:rPr lang="en-US" sz="1200" b="1" dirty="0">
                <a:solidFill>
                  <a:srgbClr val="1F2937"/>
                </a:solidFill>
              </a:rPr>
              <a:t>Get called, then follow the way</a:t>
            </a:r>
            <a:endParaRPr lang="en-US" sz="1200" dirty="0"/>
          </a:p>
        </p:txBody>
      </p:sp>
      <p:sp>
        <p:nvSpPr>
          <p:cNvPr id="16" name="Phone frame"/>
          <p:cNvSpPr/>
          <p:nvPr/>
        </p:nvSpPr>
        <p:spPr>
          <a:xfrm>
            <a:off x="6446520" y="1572768"/>
            <a:ext cx="1589908" cy="3227832"/>
          </a:xfrm>
          <a:prstGeom prst="roundRect">
            <a:avLst>
              <a:gd name="adj" fmla="val 11503"/>
            </a:avLst>
          </a:prstGeom>
          <a:solidFill>
            <a:srgbClr val="0B1224"/>
          </a:solidFill>
          <a:ln w="12700">
            <a:solidFill>
              <a:srgbClr val="0B1224"/>
            </a:solidFill>
            <a:prstDash val="solid"/>
          </a:ln>
        </p:spPr>
      </p:sp>
      <p:pic>
        <p:nvPicPr>
          <p:cNvPr id="17" name="Image 2" descr="The way to X-ray: step-by-step directions from the main entrance, with an Avoid stairs switch.">    </p:cNvPr>
          <p:cNvPicPr>
            <a:picLocks noChangeAspect="1"/>
          </p:cNvPicPr>
          <p:nvPr/>
        </p:nvPicPr>
        <p:blipFill>
          <a:blip r:embed="rId3"/>
          <a:stretch>
            <a:fillRect/>
          </a:stretch>
        </p:blipFill>
        <p:spPr>
          <a:xfrm>
            <a:off x="6537960" y="1664208"/>
            <a:ext cx="1407028" cy="304495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8046720" cy="548640"/>
          </a:xfrm>
          <a:prstGeom prst="rect">
            <a:avLst/>
          </a:prstGeom>
          <a:noFill/>
          <a:ln/>
        </p:spPr>
        <p:txBody>
          <a:bodyPr wrap="square" lIns="0" tIns="0" rIns="0" bIns="0" rtlCol="0" anchor="t"/>
          <a:lstStyle/>
          <a:p>
            <a:pPr algn="l" indent="0" marL="0">
              <a:buNone/>
            </a:pPr>
            <a:r>
              <a:rPr lang="en-US" sz="2800" b="1" dirty="0">
                <a:solidFill>
                  <a:srgbClr val="14213D"/>
                </a:solidFill>
              </a:rPr>
              <a:t>The same live line on every screen</a:t>
            </a:r>
            <a:endParaRPr lang="en-US" sz="2800" dirty="0"/>
          </a:p>
        </p:txBody>
      </p:sp>
      <p:pic>
        <p:nvPicPr>
          <p:cNvPr id="3" name="Image 0" descr="Waiting-room TV board: tokens now in each room, the next tokens, and a Join the line code.">    </p:cNvPr>
          <p:cNvPicPr>
            <a:picLocks noChangeAspect="1"/>
          </p:cNvPicPr>
          <p:nvPr/>
        </p:nvPicPr>
        <p:blipFill>
          <a:blip r:embed="rId1"/>
          <a:stretch>
            <a:fillRect/>
          </a:stretch>
        </p:blipFill>
        <p:spPr>
          <a:xfrm>
            <a:off x="548640" y="1188720"/>
            <a:ext cx="3986784" cy="2240280"/>
          </a:xfrm>
          <a:prstGeom prst="rect">
            <a:avLst/>
          </a:prstGeom>
        </p:spPr>
      </p:pic>
      <p:sp>
        <p:nvSpPr>
          <p:cNvPr id="4" name="Forecast panel"/>
          <p:cNvSpPr/>
          <p:nvPr/>
        </p:nvSpPr>
        <p:spPr>
          <a:xfrm>
            <a:off x="4782312" y="1188720"/>
            <a:ext cx="3813048" cy="2240280"/>
          </a:xfrm>
          <a:prstGeom prst="roundRect">
            <a:avLst>
              <a:gd name="adj" fmla="val 6122"/>
            </a:avLst>
          </a:prstGeom>
          <a:solidFill>
            <a:srgbClr val="EEF3F1"/>
          </a:solidFill>
          <a:ln w="12700">
            <a:solidFill>
              <a:srgbClr val="EEF3F1"/>
            </a:solidFill>
            <a:prstDash val="solid"/>
          </a:ln>
        </p:spPr>
      </p:sp>
      <p:pic>
        <p:nvPicPr>
          <p:cNvPr id="5" name="Image 1" descr="Busy days ahead: tomorrow very busy, about 463 patients, with the reasons.">    </p:cNvPr>
          <p:cNvPicPr>
            <a:picLocks noChangeAspect="1"/>
          </p:cNvPicPr>
          <p:nvPr/>
        </p:nvPicPr>
        <p:blipFill>
          <a:blip r:embed="rId2"/>
          <a:stretch>
            <a:fillRect/>
          </a:stretch>
        </p:blipFill>
        <p:spPr>
          <a:xfrm>
            <a:off x="4892040" y="1298448"/>
            <a:ext cx="3593592" cy="2117750"/>
          </a:xfrm>
          <a:prstGeom prst="rect">
            <a:avLst/>
          </a:prstGeom>
        </p:spPr>
      </p:pic>
      <p:sp>
        <p:nvSpPr>
          <p:cNvPr id="6" name="Icon circle"/>
          <p:cNvSpPr/>
          <p:nvPr/>
        </p:nvSpPr>
        <p:spPr>
          <a:xfrm>
            <a:off x="548640" y="3639312"/>
            <a:ext cx="365760" cy="365760"/>
          </a:xfrm>
          <a:prstGeom prst="ellipse">
            <a:avLst/>
          </a:prstGeom>
          <a:solidFill>
            <a:srgbClr val="0B6B4F"/>
          </a:solidFill>
          <a:ln w="12700">
            <a:solidFill>
              <a:srgbClr val="0B6B4F"/>
            </a:solidFill>
            <a:prstDash val="solid"/>
          </a:ln>
        </p:spPr>
      </p:sp>
      <p:pic>
        <p:nvPicPr>
          <p:cNvPr id="7" name="Image 2" descr="/private/tmp/claude-501/-Users-nitinraina-opd-saathi/23bdfde6-3033-4306-a6c1-bdd0b4752ee0/scratchpad/build/img/icon-LuMonitor.png">    </p:cNvPr>
          <p:cNvPicPr>
            <a:picLocks noChangeAspect="1"/>
          </p:cNvPicPr>
          <p:nvPr/>
        </p:nvPicPr>
        <p:blipFill>
          <a:blip r:embed="rId3"/>
          <a:stretch>
            <a:fillRect/>
          </a:stretch>
        </p:blipFill>
        <p:spPr>
          <a:xfrm>
            <a:off x="636422" y="3727094"/>
            <a:ext cx="190195" cy="190195"/>
          </a:xfrm>
          <a:prstGeom prst="rect">
            <a:avLst/>
          </a:prstGeom>
        </p:spPr>
      </p:pic>
      <p:sp>
        <p:nvSpPr>
          <p:cNvPr id="8" name="Text 3"/>
          <p:cNvSpPr txBox="1"/>
          <p:nvPr/>
        </p:nvSpPr>
        <p:spPr>
          <a:xfrm>
            <a:off x="1051560" y="3611880"/>
            <a:ext cx="3483864" cy="274320"/>
          </a:xfrm>
          <a:prstGeom prst="rect">
            <a:avLst/>
          </a:prstGeom>
          <a:noFill/>
          <a:ln/>
        </p:spPr>
        <p:txBody>
          <a:bodyPr wrap="square" lIns="0" tIns="0" rIns="0" bIns="0" rtlCol="0" anchor="t"/>
          <a:lstStyle/>
          <a:p>
            <a:pPr indent="0" marL="0">
              <a:buNone/>
            </a:pPr>
            <a:r>
              <a:rPr lang="en-US" sz="1400" b="1" dirty="0">
                <a:solidFill>
                  <a:srgbClr val="1F2937"/>
                </a:solidFill>
              </a:rPr>
              <a:t>Waiting-room TV</a:t>
            </a:r>
            <a:endParaRPr lang="en-US" sz="1400" dirty="0"/>
          </a:p>
        </p:txBody>
      </p:sp>
      <p:sp>
        <p:nvSpPr>
          <p:cNvPr id="9" name="Text 4"/>
          <p:cNvSpPr txBox="1"/>
          <p:nvPr/>
        </p:nvSpPr>
        <p:spPr>
          <a:xfrm>
            <a:off x="1051560" y="3904488"/>
            <a:ext cx="3483864" cy="685800"/>
          </a:xfrm>
          <a:prstGeom prst="rect">
            <a:avLst/>
          </a:prstGeom>
          <a:noFill/>
          <a:ln/>
        </p:spPr>
        <p:txBody>
          <a:bodyPr wrap="square" lIns="0" tIns="0" rIns="0" bIns="0" rtlCol="0" anchor="t"/>
          <a:lstStyle/>
          <a:p>
            <a:pPr indent="0" marL="0">
              <a:buNone/>
            </a:pPr>
            <a:r>
              <a:rPr lang="en-US" sz="1200" dirty="0">
                <a:solidFill>
                  <a:srgbClr val="5E6B7E"/>
                </a:solidFill>
              </a:rPr>
              <a:t>Calls each token aloud in Hindi and English. Shows tokens, never names, and the code to join the line.</a:t>
            </a:r>
            <a:endParaRPr lang="en-US" sz="1200" dirty="0"/>
          </a:p>
        </p:txBody>
      </p:sp>
      <p:sp>
        <p:nvSpPr>
          <p:cNvPr id="10" name="Icon circle"/>
          <p:cNvSpPr/>
          <p:nvPr/>
        </p:nvSpPr>
        <p:spPr>
          <a:xfrm>
            <a:off x="4782312" y="3639312"/>
            <a:ext cx="365760" cy="365760"/>
          </a:xfrm>
          <a:prstGeom prst="ellipse">
            <a:avLst/>
          </a:prstGeom>
          <a:solidFill>
            <a:srgbClr val="0B6B4F"/>
          </a:solidFill>
          <a:ln w="12700">
            <a:solidFill>
              <a:srgbClr val="0B6B4F"/>
            </a:solidFill>
            <a:prstDash val="solid"/>
          </a:ln>
        </p:spPr>
      </p:sp>
      <p:pic>
        <p:nvPicPr>
          <p:cNvPr id="11" name="Image 3" descr="/private/tmp/claude-501/-Users-nitinraina-opd-saathi/23bdfde6-3033-4306-a6c1-bdd0b4752ee0/scratchpad/build/img/icon-LuChartColumn.png">    </p:cNvPr>
          <p:cNvPicPr>
            <a:picLocks noChangeAspect="1"/>
          </p:cNvPicPr>
          <p:nvPr/>
        </p:nvPicPr>
        <p:blipFill>
          <a:blip r:embed="rId4"/>
          <a:stretch>
            <a:fillRect/>
          </a:stretch>
        </p:blipFill>
        <p:spPr>
          <a:xfrm>
            <a:off x="4870094" y="3727094"/>
            <a:ext cx="190195" cy="190195"/>
          </a:xfrm>
          <a:prstGeom prst="rect">
            <a:avLst/>
          </a:prstGeom>
        </p:spPr>
      </p:pic>
      <p:sp>
        <p:nvSpPr>
          <p:cNvPr id="12" name="Text 6"/>
          <p:cNvSpPr txBox="1"/>
          <p:nvPr/>
        </p:nvSpPr>
        <p:spPr>
          <a:xfrm>
            <a:off x="5285232" y="3611880"/>
            <a:ext cx="3310128" cy="274320"/>
          </a:xfrm>
          <a:prstGeom prst="rect">
            <a:avLst/>
          </a:prstGeom>
          <a:noFill/>
          <a:ln/>
        </p:spPr>
        <p:txBody>
          <a:bodyPr wrap="square" lIns="0" tIns="0" rIns="0" bIns="0" rtlCol="0" anchor="t"/>
          <a:lstStyle/>
          <a:p>
            <a:pPr indent="0" marL="0">
              <a:buNone/>
            </a:pPr>
            <a:r>
              <a:rPr lang="en-US" sz="1400" b="1" dirty="0">
                <a:solidFill>
                  <a:srgbClr val="1F2937"/>
                </a:solidFill>
              </a:rPr>
              <a:t>Crowd forecast for staff</a:t>
            </a:r>
            <a:endParaRPr lang="en-US" sz="1400" dirty="0"/>
          </a:p>
        </p:txBody>
      </p:sp>
      <p:sp>
        <p:nvSpPr>
          <p:cNvPr id="13" name="Text 7"/>
          <p:cNvSpPr txBox="1"/>
          <p:nvPr/>
        </p:nvSpPr>
        <p:spPr>
          <a:xfrm>
            <a:off x="5285232" y="3904488"/>
            <a:ext cx="3310128" cy="685800"/>
          </a:xfrm>
          <a:prstGeom prst="rect">
            <a:avLst/>
          </a:prstGeom>
          <a:noFill/>
          <a:ln/>
        </p:spPr>
        <p:txBody>
          <a:bodyPr wrap="square" lIns="0" tIns="0" rIns="0" bIns="0" rtlCol="0" anchor="t"/>
          <a:lstStyle/>
          <a:p>
            <a:pPr indent="0" marL="0">
              <a:buNone/>
            </a:pPr>
            <a:r>
              <a:rPr lang="en-US" sz="1200" dirty="0">
                <a:solidFill>
                  <a:srgbClr val="5E6B7E"/>
                </a:solidFill>
              </a:rPr>
              <a:t>Learns this hospital’s busy days from weather, air quality, traffic and its own history, so staff can plan ahead.</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8046720" cy="548640"/>
          </a:xfrm>
          <a:prstGeom prst="rect">
            <a:avLst/>
          </a:prstGeom>
          <a:noFill/>
          <a:ln/>
        </p:spPr>
        <p:txBody>
          <a:bodyPr wrap="square" lIns="0" tIns="0" rIns="0" bIns="0" rtlCol="0" anchor="t"/>
          <a:lstStyle/>
          <a:p>
            <a:pPr algn="l" indent="0" marL="0">
              <a:buNone/>
            </a:pPr>
            <a:r>
              <a:rPr lang="en-US" sz="2800" b="1" dirty="0">
                <a:solidFill>
                  <a:srgbClr val="14213D"/>
                </a:solidFill>
              </a:rPr>
              <a:t>Help by voice, in Hindi, or by SMS</a:t>
            </a:r>
            <a:endParaRPr lang="en-US" sz="2800" dirty="0"/>
          </a:p>
        </p:txBody>
      </p:sp>
      <p:sp>
        <p:nvSpPr>
          <p:cNvPr id="3" name="Phone frame"/>
          <p:cNvSpPr/>
          <p:nvPr/>
        </p:nvSpPr>
        <p:spPr>
          <a:xfrm>
            <a:off x="1164371" y="1143000"/>
            <a:ext cx="1450472" cy="2926080"/>
          </a:xfrm>
          <a:prstGeom prst="roundRect">
            <a:avLst>
              <a:gd name="adj" fmla="val 12608"/>
            </a:avLst>
          </a:prstGeom>
          <a:solidFill>
            <a:srgbClr val="0B1224"/>
          </a:solidFill>
          <a:ln w="12700">
            <a:solidFill>
              <a:srgbClr val="0B1224"/>
            </a:solidFill>
            <a:prstDash val="solid"/>
          </a:ln>
        </p:spPr>
      </p:sp>
      <p:pic>
        <p:nvPicPr>
          <p:cNvPr id="4" name="Image 0" descr="Ask a question: You asked X-ray kahan hai? Answer: Ground floor, the door with the yellow warning sign. Show the way.">    </p:cNvPr>
          <p:cNvPicPr>
            <a:picLocks noChangeAspect="1"/>
          </p:cNvPicPr>
          <p:nvPr/>
        </p:nvPicPr>
        <p:blipFill>
          <a:blip r:embed="rId1"/>
          <a:stretch>
            <a:fillRect/>
          </a:stretch>
        </p:blipFill>
        <p:spPr>
          <a:xfrm>
            <a:off x="1255811" y="1234440"/>
            <a:ext cx="1267592" cy="2743200"/>
          </a:xfrm>
          <a:prstGeom prst="rect">
            <a:avLst/>
          </a:prstGeom>
        </p:spPr>
      </p:pic>
      <p:sp>
        <p:nvSpPr>
          <p:cNvPr id="5" name="Text 2"/>
          <p:cNvSpPr txBox="1"/>
          <p:nvPr/>
        </p:nvSpPr>
        <p:spPr>
          <a:xfrm>
            <a:off x="655168" y="4206240"/>
            <a:ext cx="2468880" cy="274320"/>
          </a:xfrm>
          <a:prstGeom prst="rect">
            <a:avLst/>
          </a:prstGeom>
          <a:noFill/>
          <a:ln/>
        </p:spPr>
        <p:txBody>
          <a:bodyPr wrap="square" lIns="0" tIns="0" rIns="0" bIns="0" rtlCol="0" anchor="t"/>
          <a:lstStyle/>
          <a:p>
            <a:pPr algn="ctr" indent="0" marL="0">
              <a:buNone/>
            </a:pPr>
            <a:r>
              <a:rPr lang="en-US" sz="1300" b="1" dirty="0">
                <a:solidFill>
                  <a:srgbClr val="1F2937"/>
                </a:solidFill>
              </a:rPr>
              <a:t>Ask by voice</a:t>
            </a:r>
            <a:endParaRPr lang="en-US" sz="1300" dirty="0"/>
          </a:p>
        </p:txBody>
      </p:sp>
      <p:sp>
        <p:nvSpPr>
          <p:cNvPr id="6" name="Text 3"/>
          <p:cNvSpPr txBox="1"/>
          <p:nvPr/>
        </p:nvSpPr>
        <p:spPr>
          <a:xfrm>
            <a:off x="655168" y="4480560"/>
            <a:ext cx="2468880" cy="411480"/>
          </a:xfrm>
          <a:prstGeom prst="rect">
            <a:avLst/>
          </a:prstGeom>
          <a:noFill/>
          <a:ln/>
        </p:spPr>
        <p:txBody>
          <a:bodyPr wrap="square" lIns="0" tIns="0" rIns="0" bIns="0" rtlCol="0" anchor="t"/>
          <a:lstStyle/>
          <a:p>
            <a:pPr algn="ctr" indent="0" marL="0">
              <a:buNone/>
            </a:pPr>
            <a:r>
              <a:rPr lang="en-US" sz="1100" dirty="0">
                <a:solidFill>
                  <a:srgbClr val="5E6B7E"/>
                </a:solidFill>
              </a:rPr>
              <a:t>“X-ray kahan hai?” is answered aloud, with the way there.</a:t>
            </a:r>
            <a:endParaRPr lang="en-US" sz="1100" dirty="0"/>
          </a:p>
        </p:txBody>
      </p:sp>
      <p:sp>
        <p:nvSpPr>
          <p:cNvPr id="7" name="Phone frame"/>
          <p:cNvSpPr/>
          <p:nvPr/>
        </p:nvSpPr>
        <p:spPr>
          <a:xfrm>
            <a:off x="3846307" y="1143000"/>
            <a:ext cx="1450472" cy="2926080"/>
          </a:xfrm>
          <a:prstGeom prst="roundRect">
            <a:avLst>
              <a:gd name="adj" fmla="val 12608"/>
            </a:avLst>
          </a:prstGeom>
          <a:solidFill>
            <a:srgbClr val="0B1224"/>
          </a:solidFill>
          <a:ln w="12700">
            <a:solidFill>
              <a:srgbClr val="0B1224"/>
            </a:solidFill>
            <a:prstDash val="solid"/>
          </a:ln>
        </p:spPr>
      </p:sp>
      <p:pic>
        <p:nvPicPr>
          <p:cNvPr id="8" name="Image 1" descr="My turn screen in Hindi: आपकी बारी आ गई! MED-010.">    </p:cNvPr>
          <p:cNvPicPr>
            <a:picLocks noChangeAspect="1"/>
          </p:cNvPicPr>
          <p:nvPr/>
        </p:nvPicPr>
        <p:blipFill>
          <a:blip r:embed="rId2"/>
          <a:stretch>
            <a:fillRect/>
          </a:stretch>
        </p:blipFill>
        <p:spPr>
          <a:xfrm>
            <a:off x="3937747" y="1234440"/>
            <a:ext cx="1267592" cy="2743200"/>
          </a:xfrm>
          <a:prstGeom prst="rect">
            <a:avLst/>
          </a:prstGeom>
        </p:spPr>
      </p:pic>
      <p:sp>
        <p:nvSpPr>
          <p:cNvPr id="9" name="Text 5"/>
          <p:cNvSpPr txBox="1"/>
          <p:nvPr/>
        </p:nvSpPr>
        <p:spPr>
          <a:xfrm>
            <a:off x="3337103" y="4206240"/>
            <a:ext cx="2468880" cy="274320"/>
          </a:xfrm>
          <a:prstGeom prst="rect">
            <a:avLst/>
          </a:prstGeom>
          <a:noFill/>
          <a:ln/>
        </p:spPr>
        <p:txBody>
          <a:bodyPr wrap="square" lIns="0" tIns="0" rIns="0" bIns="0" rtlCol="0" anchor="t"/>
          <a:lstStyle/>
          <a:p>
            <a:pPr algn="ctr" indent="0" marL="0">
              <a:buNone/>
            </a:pPr>
            <a:r>
              <a:rPr lang="en-US" sz="1300" b="1" dirty="0">
                <a:solidFill>
                  <a:srgbClr val="1F2937"/>
                </a:solidFill>
              </a:rPr>
              <a:t>Hindi on every screen</a:t>
            </a:r>
            <a:endParaRPr lang="en-US" sz="1300" dirty="0"/>
          </a:p>
        </p:txBody>
      </p:sp>
      <p:sp>
        <p:nvSpPr>
          <p:cNvPr id="10" name="Text 6"/>
          <p:cNvSpPr txBox="1"/>
          <p:nvPr/>
        </p:nvSpPr>
        <p:spPr>
          <a:xfrm>
            <a:off x="3337103" y="4480560"/>
            <a:ext cx="2468880" cy="411480"/>
          </a:xfrm>
          <a:prstGeom prst="rect">
            <a:avLst/>
          </a:prstGeom>
          <a:noFill/>
          <a:ln/>
        </p:spPr>
        <p:txBody>
          <a:bodyPr wrap="square" lIns="0" tIns="0" rIns="0" bIns="0" rtlCol="0" anchor="t"/>
          <a:lstStyle/>
          <a:p>
            <a:pPr algn="ctr" indent="0" marL="0">
              <a:buNone/>
            </a:pPr>
            <a:r>
              <a:rPr lang="en-US" sz="1100" dirty="0">
                <a:solidFill>
                  <a:srgbClr val="5E6B7E"/>
                </a:solidFill>
              </a:rPr>
              <a:t>Tokens, alerts and directions in Hindi or English.</a:t>
            </a:r>
            <a:endParaRPr lang="en-US" sz="1100" dirty="0"/>
          </a:p>
        </p:txBody>
      </p:sp>
      <p:pic>
        <p:nvPicPr>
          <p:cNvPr id="11" name="Image 2" descr="Basic phone SMS: CHD 2 gets &quot;you are next&quot;; KAHAN XRAY gets the X-ray location in Hindi.">    </p:cNvPr>
          <p:cNvPicPr>
            <a:picLocks noChangeAspect="1"/>
          </p:cNvPicPr>
          <p:nvPr/>
        </p:nvPicPr>
        <p:blipFill>
          <a:blip r:embed="rId3"/>
          <a:stretch>
            <a:fillRect/>
          </a:stretch>
        </p:blipFill>
        <p:spPr>
          <a:xfrm>
            <a:off x="6441031" y="1143000"/>
            <a:ext cx="1624895" cy="2926080"/>
          </a:xfrm>
          <a:prstGeom prst="rect">
            <a:avLst/>
          </a:prstGeom>
        </p:spPr>
      </p:pic>
      <p:sp>
        <p:nvSpPr>
          <p:cNvPr id="12" name="Text 7"/>
          <p:cNvSpPr txBox="1"/>
          <p:nvPr/>
        </p:nvSpPr>
        <p:spPr>
          <a:xfrm>
            <a:off x="6019038" y="4206240"/>
            <a:ext cx="2468880" cy="274320"/>
          </a:xfrm>
          <a:prstGeom prst="rect">
            <a:avLst/>
          </a:prstGeom>
          <a:noFill/>
          <a:ln/>
        </p:spPr>
        <p:txBody>
          <a:bodyPr wrap="square" lIns="0" tIns="0" rIns="0" bIns="0" rtlCol="0" anchor="t"/>
          <a:lstStyle/>
          <a:p>
            <a:pPr algn="ctr" indent="0" marL="0">
              <a:buNone/>
            </a:pPr>
            <a:r>
              <a:rPr lang="en-US" sz="1300" b="1" dirty="0">
                <a:solidFill>
                  <a:srgbClr val="1F2937"/>
                </a:solidFill>
              </a:rPr>
              <a:t>No smartphone? Use SMS</a:t>
            </a:r>
            <a:endParaRPr lang="en-US" sz="1300" dirty="0"/>
          </a:p>
        </p:txBody>
      </p:sp>
      <p:sp>
        <p:nvSpPr>
          <p:cNvPr id="13" name="Text 8"/>
          <p:cNvSpPr txBox="1"/>
          <p:nvPr/>
        </p:nvSpPr>
        <p:spPr>
          <a:xfrm>
            <a:off x="6019038" y="4480560"/>
            <a:ext cx="2468880" cy="411480"/>
          </a:xfrm>
          <a:prstGeom prst="rect">
            <a:avLst/>
          </a:prstGeom>
          <a:noFill/>
          <a:ln/>
        </p:spPr>
        <p:txBody>
          <a:bodyPr wrap="square" lIns="0" tIns="0" rIns="0" bIns="0" rtlCol="0" anchor="t"/>
          <a:lstStyle/>
          <a:p>
            <a:pPr algn="ctr" indent="0" marL="0">
              <a:buNone/>
            </a:pPr>
            <a:r>
              <a:rPr lang="en-US" sz="1100" dirty="0">
                <a:solidFill>
                  <a:srgbClr val="5E6B7E"/>
                </a:solidFill>
              </a:rPr>
              <a:t>Text a token, or KAHAN XRAY, from any basic phone.</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8046720" cy="548640"/>
          </a:xfrm>
          <a:prstGeom prst="rect">
            <a:avLst/>
          </a:prstGeom>
          <a:noFill/>
          <a:ln/>
        </p:spPr>
        <p:txBody>
          <a:bodyPr wrap="square" lIns="0" tIns="0" rIns="0" bIns="0" rtlCol="0" anchor="t"/>
          <a:lstStyle/>
          <a:p>
            <a:pPr algn="l" indent="0" marL="0">
              <a:buNone/>
            </a:pPr>
            <a:r>
              <a:rPr lang="en-US" sz="2800" b="1" dirty="0">
                <a:solidFill>
                  <a:srgbClr val="14213D"/>
                </a:solidFill>
              </a:rPr>
              <a:t>A full MERN app, running on free tools</a:t>
            </a:r>
            <a:endParaRPr lang="en-US" sz="2800" dirty="0"/>
          </a:p>
        </p:txBody>
      </p:sp>
      <p:sp>
        <p:nvSpPr>
          <p:cNvPr id="3" name="Text 1"/>
          <p:cNvSpPr txBox="1"/>
          <p:nvPr/>
        </p:nvSpPr>
        <p:spPr>
          <a:xfrm>
            <a:off x="548640" y="1188720"/>
            <a:ext cx="3840480" cy="320040"/>
          </a:xfrm>
          <a:prstGeom prst="rect">
            <a:avLst/>
          </a:prstGeom>
          <a:noFill/>
          <a:ln/>
        </p:spPr>
        <p:txBody>
          <a:bodyPr wrap="square" lIns="0" tIns="0" rIns="0" bIns="0" rtlCol="0" anchor="t"/>
          <a:lstStyle/>
          <a:p>
            <a:pPr indent="0" marL="0">
              <a:buNone/>
            </a:pPr>
            <a:r>
              <a:rPr lang="en-US" sz="1600" b="1" dirty="0">
                <a:solidFill>
                  <a:srgbClr val="1F2937"/>
                </a:solidFill>
              </a:rPr>
              <a:t>Built with</a:t>
            </a:r>
            <a:endParaRPr lang="en-US" sz="1600" dirty="0"/>
          </a:p>
        </p:txBody>
      </p:sp>
      <p:sp>
        <p:nvSpPr>
          <p:cNvPr id="4" name="Icon circle"/>
          <p:cNvSpPr/>
          <p:nvPr/>
        </p:nvSpPr>
        <p:spPr>
          <a:xfrm>
            <a:off x="548640" y="1691640"/>
            <a:ext cx="457200" cy="457200"/>
          </a:xfrm>
          <a:prstGeom prst="ellipse">
            <a:avLst/>
          </a:prstGeom>
          <a:solidFill>
            <a:srgbClr val="0B6B4F"/>
          </a:solidFill>
          <a:ln w="12700">
            <a:solidFill>
              <a:srgbClr val="0B6B4F"/>
            </a:solidFill>
            <a:prstDash val="solid"/>
          </a:ln>
        </p:spPr>
      </p:sp>
      <p:pic>
        <p:nvPicPr>
          <p:cNvPr id="5" name="Image 0" descr="/private/tmp/claude-501/-Users-nitinraina-opd-saathi/23bdfde6-3033-4306-a6c1-bdd0b4752ee0/scratchpad/build/img/icon-LuDatabase.png">    </p:cNvPr>
          <p:cNvPicPr>
            <a:picLocks noChangeAspect="1"/>
          </p:cNvPicPr>
          <p:nvPr/>
        </p:nvPicPr>
        <p:blipFill>
          <a:blip r:embed="rId1"/>
          <a:stretch>
            <a:fillRect/>
          </a:stretch>
        </p:blipFill>
        <p:spPr>
          <a:xfrm>
            <a:off x="658368" y="1801368"/>
            <a:ext cx="237744" cy="237744"/>
          </a:xfrm>
          <a:prstGeom prst="rect">
            <a:avLst/>
          </a:prstGeom>
        </p:spPr>
      </p:pic>
      <p:sp>
        <p:nvSpPr>
          <p:cNvPr id="6" name="Text 3"/>
          <p:cNvSpPr txBox="1"/>
          <p:nvPr/>
        </p:nvSpPr>
        <p:spPr>
          <a:xfrm>
            <a:off x="1188720" y="1673352"/>
            <a:ext cx="3154680" cy="274320"/>
          </a:xfrm>
          <a:prstGeom prst="rect">
            <a:avLst/>
          </a:prstGeom>
          <a:noFill/>
          <a:ln/>
        </p:spPr>
        <p:txBody>
          <a:bodyPr wrap="square" lIns="0" tIns="0" rIns="0" bIns="0" rtlCol="0" anchor="t"/>
          <a:lstStyle/>
          <a:p>
            <a:pPr indent="0" marL="0">
              <a:buNone/>
            </a:pPr>
            <a:r>
              <a:rPr lang="en-US" sz="1400" b="1" dirty="0">
                <a:solidFill>
                  <a:srgbClr val="1F2937"/>
                </a:solidFill>
              </a:rPr>
              <a:t>MongoDB, Express, React, Node</a:t>
            </a:r>
            <a:endParaRPr lang="en-US" sz="1400" dirty="0"/>
          </a:p>
        </p:txBody>
      </p:sp>
      <p:sp>
        <p:nvSpPr>
          <p:cNvPr id="7" name="Text 4"/>
          <p:cNvSpPr txBox="1"/>
          <p:nvPr/>
        </p:nvSpPr>
        <p:spPr>
          <a:xfrm>
            <a:off x="1188720" y="1947672"/>
            <a:ext cx="3154680" cy="594360"/>
          </a:xfrm>
          <a:prstGeom prst="rect">
            <a:avLst/>
          </a:prstGeom>
          <a:noFill/>
          <a:ln/>
        </p:spPr>
        <p:txBody>
          <a:bodyPr wrap="square" lIns="0" tIns="0" rIns="0" bIns="0" rtlCol="0" anchor="t"/>
          <a:lstStyle/>
          <a:p>
            <a:pPr indent="0" marL="0">
              <a:buNone/>
            </a:pPr>
            <a:r>
              <a:rPr lang="en-US" sz="1200" dirty="0">
                <a:solidFill>
                  <a:srgbClr val="5E6B7E"/>
                </a:solidFill>
              </a:rPr>
              <a:t>One queue engine runs on the server and in the browser. Every screen updates live.</a:t>
            </a:r>
            <a:endParaRPr lang="en-US" sz="1200" dirty="0"/>
          </a:p>
        </p:txBody>
      </p:sp>
      <p:sp>
        <p:nvSpPr>
          <p:cNvPr id="8" name="Icon circle"/>
          <p:cNvSpPr/>
          <p:nvPr/>
        </p:nvSpPr>
        <p:spPr>
          <a:xfrm>
            <a:off x="548640" y="2606040"/>
            <a:ext cx="457200" cy="457200"/>
          </a:xfrm>
          <a:prstGeom prst="ellipse">
            <a:avLst/>
          </a:prstGeom>
          <a:solidFill>
            <a:srgbClr val="0B6B4F"/>
          </a:solidFill>
          <a:ln w="12700">
            <a:solidFill>
              <a:srgbClr val="0B6B4F"/>
            </a:solidFill>
            <a:prstDash val="solid"/>
          </a:ln>
        </p:spPr>
      </p:sp>
      <p:pic>
        <p:nvPicPr>
          <p:cNvPr id="9" name="Image 1" descr="/private/tmp/claude-501/-Users-nitinraina-opd-saathi/23bdfde6-3033-4306-a6c1-bdd0b4752ee0/scratchpad/build/img/icon-LuSparkles.png">    </p:cNvPr>
          <p:cNvPicPr>
            <a:picLocks noChangeAspect="1"/>
          </p:cNvPicPr>
          <p:nvPr/>
        </p:nvPicPr>
        <p:blipFill>
          <a:blip r:embed="rId2"/>
          <a:stretch>
            <a:fillRect/>
          </a:stretch>
        </p:blipFill>
        <p:spPr>
          <a:xfrm>
            <a:off x="658368" y="2715768"/>
            <a:ext cx="237744" cy="237744"/>
          </a:xfrm>
          <a:prstGeom prst="rect">
            <a:avLst/>
          </a:prstGeom>
        </p:spPr>
      </p:pic>
      <p:sp>
        <p:nvSpPr>
          <p:cNvPr id="10" name="Text 6"/>
          <p:cNvSpPr txBox="1"/>
          <p:nvPr/>
        </p:nvSpPr>
        <p:spPr>
          <a:xfrm>
            <a:off x="1188720" y="2587752"/>
            <a:ext cx="3154680" cy="274320"/>
          </a:xfrm>
          <a:prstGeom prst="rect">
            <a:avLst/>
          </a:prstGeom>
          <a:noFill/>
          <a:ln/>
        </p:spPr>
        <p:txBody>
          <a:bodyPr wrap="square" lIns="0" tIns="0" rIns="0" bIns="0" rtlCol="0" anchor="t"/>
          <a:lstStyle/>
          <a:p>
            <a:pPr indent="0" marL="0">
              <a:buNone/>
            </a:pPr>
            <a:r>
              <a:rPr lang="en-US" sz="1400" b="1" dirty="0">
                <a:solidFill>
                  <a:srgbClr val="1F2937"/>
                </a:solidFill>
              </a:rPr>
              <a:t>Google Gemini</a:t>
            </a:r>
            <a:endParaRPr lang="en-US" sz="1400" dirty="0"/>
          </a:p>
        </p:txBody>
      </p:sp>
      <p:sp>
        <p:nvSpPr>
          <p:cNvPr id="11" name="Text 7"/>
          <p:cNvSpPr txBox="1"/>
          <p:nvPr/>
        </p:nvSpPr>
        <p:spPr>
          <a:xfrm>
            <a:off x="1188720" y="2862072"/>
            <a:ext cx="3154680" cy="594360"/>
          </a:xfrm>
          <a:prstGeom prst="rect">
            <a:avLst/>
          </a:prstGeom>
          <a:noFill/>
          <a:ln/>
        </p:spPr>
        <p:txBody>
          <a:bodyPr wrap="square" lIns="0" tIns="0" rIns="0" bIns="0" rtlCol="0" anchor="t"/>
          <a:lstStyle/>
          <a:p>
            <a:pPr indent="0" marL="0">
              <a:buNone/>
            </a:pPr>
            <a:r>
              <a:rPr lang="en-US" sz="1200" dirty="0">
                <a:solidFill>
                  <a:srgbClr val="5E6B7E"/>
                </a:solidFill>
              </a:rPr>
              <a:t>Understands questions in Hindi, Hinglish or English. Urgent words never reach the AI.</a:t>
            </a:r>
            <a:endParaRPr lang="en-US" sz="1200" dirty="0"/>
          </a:p>
        </p:txBody>
      </p:sp>
      <p:sp>
        <p:nvSpPr>
          <p:cNvPr id="12" name="Icon circle"/>
          <p:cNvSpPr/>
          <p:nvPr/>
        </p:nvSpPr>
        <p:spPr>
          <a:xfrm>
            <a:off x="548640" y="3520440"/>
            <a:ext cx="457200" cy="457200"/>
          </a:xfrm>
          <a:prstGeom prst="ellipse">
            <a:avLst/>
          </a:prstGeom>
          <a:solidFill>
            <a:srgbClr val="0B6B4F"/>
          </a:solidFill>
          <a:ln w="12700">
            <a:solidFill>
              <a:srgbClr val="0B6B4F"/>
            </a:solidFill>
            <a:prstDash val="solid"/>
          </a:ln>
        </p:spPr>
      </p:sp>
      <p:pic>
        <p:nvPicPr>
          <p:cNvPr id="13" name="Image 2" descr="/private/tmp/claude-501/-Users-nitinraina-opd-saathi/23bdfde6-3033-4306-a6c1-bdd0b4752ee0/scratchpad/build/img/icon-LuWorkflow.png">    </p:cNvPr>
          <p:cNvPicPr>
            <a:picLocks noChangeAspect="1"/>
          </p:cNvPicPr>
          <p:nvPr/>
        </p:nvPicPr>
        <p:blipFill>
          <a:blip r:embed="rId3"/>
          <a:stretch>
            <a:fillRect/>
          </a:stretch>
        </p:blipFill>
        <p:spPr>
          <a:xfrm>
            <a:off x="658368" y="3630168"/>
            <a:ext cx="237744" cy="237744"/>
          </a:xfrm>
          <a:prstGeom prst="rect">
            <a:avLst/>
          </a:prstGeom>
        </p:spPr>
      </p:pic>
      <p:sp>
        <p:nvSpPr>
          <p:cNvPr id="14" name="Text 9"/>
          <p:cNvSpPr txBox="1"/>
          <p:nvPr/>
        </p:nvSpPr>
        <p:spPr>
          <a:xfrm>
            <a:off x="1188720" y="3502152"/>
            <a:ext cx="3154680" cy="274320"/>
          </a:xfrm>
          <a:prstGeom prst="rect">
            <a:avLst/>
          </a:prstGeom>
          <a:noFill/>
          <a:ln/>
        </p:spPr>
        <p:txBody>
          <a:bodyPr wrap="square" lIns="0" tIns="0" rIns="0" bIns="0" rtlCol="0" anchor="t"/>
          <a:lstStyle/>
          <a:p>
            <a:pPr indent="0" marL="0">
              <a:buNone/>
            </a:pPr>
            <a:r>
              <a:rPr lang="en-US" sz="1400" b="1" dirty="0">
                <a:solidFill>
                  <a:srgbClr val="1F2937"/>
                </a:solidFill>
              </a:rPr>
              <a:t>n8n and free data feeds</a:t>
            </a:r>
            <a:endParaRPr lang="en-US" sz="1400" dirty="0"/>
          </a:p>
        </p:txBody>
      </p:sp>
      <p:sp>
        <p:nvSpPr>
          <p:cNvPr id="15" name="Text 10"/>
          <p:cNvSpPr txBox="1"/>
          <p:nvPr/>
        </p:nvSpPr>
        <p:spPr>
          <a:xfrm>
            <a:off x="1188720" y="3776472"/>
            <a:ext cx="3154680" cy="594360"/>
          </a:xfrm>
          <a:prstGeom prst="rect">
            <a:avLst/>
          </a:prstGeom>
          <a:noFill/>
          <a:ln/>
        </p:spPr>
        <p:txBody>
          <a:bodyPr wrap="square" lIns="0" tIns="0" rIns="0" bIns="0" rtlCol="0" anchor="t"/>
          <a:lstStyle/>
          <a:p>
            <a:pPr indent="0" marL="0">
              <a:buNone/>
            </a:pPr>
            <a:r>
              <a:rPr lang="en-US" sz="1200" dirty="0">
                <a:solidFill>
                  <a:srgbClr val="5E6B7E"/>
                </a:solidFill>
              </a:rPr>
              <a:t>Open-Meteo weather and air, TomTom traffic, and urgent alerts to staff on Telegram.</a:t>
            </a:r>
            <a:endParaRPr lang="en-US" sz="1200" dirty="0"/>
          </a:p>
        </p:txBody>
      </p:sp>
      <p:sp>
        <p:nvSpPr>
          <p:cNvPr id="16" name="Real card"/>
          <p:cNvSpPr/>
          <p:nvPr/>
        </p:nvSpPr>
        <p:spPr>
          <a:xfrm>
            <a:off x="4617720" y="1188720"/>
            <a:ext cx="1920240" cy="3291840"/>
          </a:xfrm>
          <a:prstGeom prst="roundRect">
            <a:avLst>
              <a:gd name="adj" fmla="val 7143"/>
            </a:avLst>
          </a:prstGeom>
          <a:solidFill>
            <a:srgbClr val="E5F3EA"/>
          </a:solidFill>
          <a:ln w="12700">
            <a:solidFill>
              <a:srgbClr val="E5F3EA"/>
            </a:solidFill>
            <a:prstDash val="solid"/>
          </a:ln>
        </p:spPr>
      </p:sp>
      <p:sp>
        <p:nvSpPr>
          <p:cNvPr id="17" name="Icon circle"/>
          <p:cNvSpPr/>
          <p:nvPr/>
        </p:nvSpPr>
        <p:spPr>
          <a:xfrm>
            <a:off x="4846320" y="1417320"/>
            <a:ext cx="420624" cy="420624"/>
          </a:xfrm>
          <a:prstGeom prst="ellipse">
            <a:avLst/>
          </a:prstGeom>
          <a:solidFill>
            <a:srgbClr val="0B6B4F"/>
          </a:solidFill>
          <a:ln w="12700">
            <a:solidFill>
              <a:srgbClr val="0B6B4F"/>
            </a:solidFill>
            <a:prstDash val="solid"/>
          </a:ln>
        </p:spPr>
      </p:sp>
      <p:pic>
        <p:nvPicPr>
          <p:cNvPr id="18" name="Image 3" descr="/private/tmp/claude-501/-Users-nitinraina-opd-saathi/23bdfde6-3033-4306-a6c1-bdd0b4752ee0/scratchpad/build/img/icon-LuCheck.png">    </p:cNvPr>
          <p:cNvPicPr>
            <a:picLocks noChangeAspect="1"/>
          </p:cNvPicPr>
          <p:nvPr/>
        </p:nvPicPr>
        <p:blipFill>
          <a:blip r:embed="rId4"/>
          <a:stretch>
            <a:fillRect/>
          </a:stretch>
        </p:blipFill>
        <p:spPr>
          <a:xfrm>
            <a:off x="4947270" y="1518270"/>
            <a:ext cx="218724" cy="218724"/>
          </a:xfrm>
          <a:prstGeom prst="rect">
            <a:avLst/>
          </a:prstGeom>
        </p:spPr>
      </p:pic>
      <p:sp>
        <p:nvSpPr>
          <p:cNvPr id="19" name="Text 13"/>
          <p:cNvSpPr txBox="1"/>
          <p:nvPr/>
        </p:nvSpPr>
        <p:spPr>
          <a:xfrm>
            <a:off x="4846320" y="1947672"/>
            <a:ext cx="1554480" cy="320040"/>
          </a:xfrm>
          <a:prstGeom prst="rect">
            <a:avLst/>
          </a:prstGeom>
          <a:noFill/>
          <a:ln/>
        </p:spPr>
        <p:txBody>
          <a:bodyPr wrap="square" lIns="0" tIns="0" rIns="0" bIns="0" rtlCol="0" anchor="t"/>
          <a:lstStyle/>
          <a:p>
            <a:pPr indent="0" marL="0">
              <a:buNone/>
            </a:pPr>
            <a:r>
              <a:rPr lang="en-US" sz="1600" b="1" dirty="0">
                <a:solidFill>
                  <a:srgbClr val="1F2937"/>
                </a:solidFill>
              </a:rPr>
              <a:t>Real</a:t>
            </a:r>
            <a:endParaRPr lang="en-US" sz="1600" dirty="0"/>
          </a:p>
        </p:txBody>
      </p:sp>
      <p:sp>
        <p:nvSpPr>
          <p:cNvPr id="20" name="Bullet"/>
          <p:cNvSpPr/>
          <p:nvPr/>
        </p:nvSpPr>
        <p:spPr>
          <a:xfrm>
            <a:off x="4846320" y="2468880"/>
            <a:ext cx="91440" cy="91440"/>
          </a:xfrm>
          <a:prstGeom prst="ellipse">
            <a:avLst/>
          </a:prstGeom>
          <a:solidFill>
            <a:srgbClr val="0B6B4F"/>
          </a:solidFill>
          <a:ln w="12700">
            <a:solidFill>
              <a:srgbClr val="0B6B4F"/>
            </a:solidFill>
            <a:prstDash val="solid"/>
          </a:ln>
        </p:spPr>
      </p:sp>
      <p:sp>
        <p:nvSpPr>
          <p:cNvPr id="21" name="Text 15"/>
          <p:cNvSpPr txBox="1"/>
          <p:nvPr/>
        </p:nvSpPr>
        <p:spPr>
          <a:xfrm>
            <a:off x="5029200" y="2377440"/>
            <a:ext cx="1417320" cy="475488"/>
          </a:xfrm>
          <a:prstGeom prst="rect">
            <a:avLst/>
          </a:prstGeom>
          <a:noFill/>
          <a:ln/>
        </p:spPr>
        <p:txBody>
          <a:bodyPr wrap="square" lIns="0" tIns="0" rIns="0" bIns="0" rtlCol="0" anchor="t"/>
          <a:lstStyle/>
          <a:p>
            <a:pPr indent="0" marL="0">
              <a:buNone/>
            </a:pPr>
            <a:r>
              <a:rPr lang="en-US" sz="1200" dirty="0">
                <a:solidFill>
                  <a:srgbClr val="1F2937"/>
                </a:solidFill>
              </a:rPr>
              <a:t>Live queue on every screen</a:t>
            </a:r>
            <a:endParaRPr lang="en-US" sz="1200" dirty="0"/>
          </a:p>
        </p:txBody>
      </p:sp>
      <p:sp>
        <p:nvSpPr>
          <p:cNvPr id="22" name="Bullet"/>
          <p:cNvSpPr/>
          <p:nvPr/>
        </p:nvSpPr>
        <p:spPr>
          <a:xfrm>
            <a:off x="4846320" y="2980944"/>
            <a:ext cx="91440" cy="91440"/>
          </a:xfrm>
          <a:prstGeom prst="ellipse">
            <a:avLst/>
          </a:prstGeom>
          <a:solidFill>
            <a:srgbClr val="0B6B4F"/>
          </a:solidFill>
          <a:ln w="12700">
            <a:solidFill>
              <a:srgbClr val="0B6B4F"/>
            </a:solidFill>
            <a:prstDash val="solid"/>
          </a:ln>
        </p:spPr>
      </p:sp>
      <p:sp>
        <p:nvSpPr>
          <p:cNvPr id="23" name="Text 17"/>
          <p:cNvSpPr txBox="1"/>
          <p:nvPr/>
        </p:nvSpPr>
        <p:spPr>
          <a:xfrm>
            <a:off x="5029200" y="2889504"/>
            <a:ext cx="1417320" cy="475488"/>
          </a:xfrm>
          <a:prstGeom prst="rect">
            <a:avLst/>
          </a:prstGeom>
          <a:noFill/>
          <a:ln/>
        </p:spPr>
        <p:txBody>
          <a:bodyPr wrap="square" lIns="0" tIns="0" rIns="0" bIns="0" rtlCol="0" anchor="t"/>
          <a:lstStyle/>
          <a:p>
            <a:pPr indent="0" marL="0">
              <a:buNone/>
            </a:pPr>
            <a:r>
              <a:rPr lang="en-US" sz="1200" dirty="0">
                <a:solidFill>
                  <a:srgbClr val="1F2937"/>
                </a:solidFill>
              </a:rPr>
              <a:t>Staff logins and roles</a:t>
            </a:r>
            <a:endParaRPr lang="en-US" sz="1200" dirty="0"/>
          </a:p>
        </p:txBody>
      </p:sp>
      <p:sp>
        <p:nvSpPr>
          <p:cNvPr id="24" name="Bullet"/>
          <p:cNvSpPr/>
          <p:nvPr/>
        </p:nvSpPr>
        <p:spPr>
          <a:xfrm>
            <a:off x="4846320" y="3493008"/>
            <a:ext cx="91440" cy="91440"/>
          </a:xfrm>
          <a:prstGeom prst="ellipse">
            <a:avLst/>
          </a:prstGeom>
          <a:solidFill>
            <a:srgbClr val="0B6B4F"/>
          </a:solidFill>
          <a:ln w="12700">
            <a:solidFill>
              <a:srgbClr val="0B6B4F"/>
            </a:solidFill>
            <a:prstDash val="solid"/>
          </a:ln>
        </p:spPr>
      </p:sp>
      <p:sp>
        <p:nvSpPr>
          <p:cNvPr id="25" name="Text 19"/>
          <p:cNvSpPr txBox="1"/>
          <p:nvPr/>
        </p:nvSpPr>
        <p:spPr>
          <a:xfrm>
            <a:off x="5029200" y="3401568"/>
            <a:ext cx="1417320" cy="475488"/>
          </a:xfrm>
          <a:prstGeom prst="rect">
            <a:avLst/>
          </a:prstGeom>
          <a:noFill/>
          <a:ln/>
        </p:spPr>
        <p:txBody>
          <a:bodyPr wrap="square" lIns="0" tIns="0" rIns="0" bIns="0" rtlCol="0" anchor="t"/>
          <a:lstStyle/>
          <a:p>
            <a:pPr indent="0" marL="0">
              <a:buNone/>
            </a:pPr>
            <a:r>
              <a:rPr lang="en-US" sz="1200" dirty="0">
                <a:solidFill>
                  <a:srgbClr val="1F2937"/>
                </a:solidFill>
              </a:rPr>
              <a:t>Forecast from live weather</a:t>
            </a:r>
            <a:endParaRPr lang="en-US" sz="1200" dirty="0"/>
          </a:p>
        </p:txBody>
      </p:sp>
      <p:sp>
        <p:nvSpPr>
          <p:cNvPr id="26" name="Bullet"/>
          <p:cNvSpPr/>
          <p:nvPr/>
        </p:nvSpPr>
        <p:spPr>
          <a:xfrm>
            <a:off x="4846320" y="4005072"/>
            <a:ext cx="91440" cy="91440"/>
          </a:xfrm>
          <a:prstGeom prst="ellipse">
            <a:avLst/>
          </a:prstGeom>
          <a:solidFill>
            <a:srgbClr val="0B6B4F"/>
          </a:solidFill>
          <a:ln w="12700">
            <a:solidFill>
              <a:srgbClr val="0B6B4F"/>
            </a:solidFill>
            <a:prstDash val="solid"/>
          </a:ln>
        </p:spPr>
      </p:sp>
      <p:sp>
        <p:nvSpPr>
          <p:cNvPr id="27" name="Text 21"/>
          <p:cNvSpPr txBox="1"/>
          <p:nvPr/>
        </p:nvSpPr>
        <p:spPr>
          <a:xfrm>
            <a:off x="5029200" y="3913632"/>
            <a:ext cx="1417320" cy="475488"/>
          </a:xfrm>
          <a:prstGeom prst="rect">
            <a:avLst/>
          </a:prstGeom>
          <a:noFill/>
          <a:ln/>
        </p:spPr>
        <p:txBody>
          <a:bodyPr wrap="square" lIns="0" tIns="0" rIns="0" bIns="0" rtlCol="0" anchor="t"/>
          <a:lstStyle/>
          <a:p>
            <a:pPr indent="0" marL="0">
              <a:buNone/>
            </a:pPr>
            <a:r>
              <a:rPr lang="en-US" sz="1200" dirty="0">
                <a:solidFill>
                  <a:srgbClr val="1F2937"/>
                </a:solidFill>
              </a:rPr>
              <a:t>Gemini helper, phone alerts</a:t>
            </a:r>
            <a:endParaRPr lang="en-US" sz="1200" dirty="0"/>
          </a:p>
        </p:txBody>
      </p:sp>
      <p:sp>
        <p:nvSpPr>
          <p:cNvPr id="28" name="Simulated card"/>
          <p:cNvSpPr/>
          <p:nvPr/>
        </p:nvSpPr>
        <p:spPr>
          <a:xfrm>
            <a:off x="6675120" y="1188720"/>
            <a:ext cx="1920240" cy="3291840"/>
          </a:xfrm>
          <a:prstGeom prst="roundRect">
            <a:avLst>
              <a:gd name="adj" fmla="val 7143"/>
            </a:avLst>
          </a:prstGeom>
          <a:solidFill>
            <a:srgbClr val="FDF3E3"/>
          </a:solidFill>
          <a:ln w="12700">
            <a:solidFill>
              <a:srgbClr val="FDF3E3"/>
            </a:solidFill>
            <a:prstDash val="solid"/>
          </a:ln>
        </p:spPr>
      </p:sp>
      <p:sp>
        <p:nvSpPr>
          <p:cNvPr id="29" name="Icon circle"/>
          <p:cNvSpPr/>
          <p:nvPr/>
        </p:nvSpPr>
        <p:spPr>
          <a:xfrm>
            <a:off x="6903720" y="1417320"/>
            <a:ext cx="420624" cy="420624"/>
          </a:xfrm>
          <a:prstGeom prst="ellipse">
            <a:avLst/>
          </a:prstGeom>
          <a:solidFill>
            <a:srgbClr val="F0A43A"/>
          </a:solidFill>
          <a:ln w="12700">
            <a:solidFill>
              <a:srgbClr val="F0A43A"/>
            </a:solidFill>
            <a:prstDash val="solid"/>
          </a:ln>
        </p:spPr>
      </p:sp>
      <p:pic>
        <p:nvPicPr>
          <p:cNvPr id="30" name="Image 4" descr="/private/tmp/claude-501/-Users-nitinraina-opd-saathi/23bdfde6-3033-4306-a6c1-bdd0b4752ee0/scratchpad/build/img/icon-LuFlaskConical.png">    </p:cNvPr>
          <p:cNvPicPr>
            <a:picLocks noChangeAspect="1"/>
          </p:cNvPicPr>
          <p:nvPr/>
        </p:nvPicPr>
        <p:blipFill>
          <a:blip r:embed="rId5"/>
          <a:stretch>
            <a:fillRect/>
          </a:stretch>
        </p:blipFill>
        <p:spPr>
          <a:xfrm>
            <a:off x="7004670" y="1518270"/>
            <a:ext cx="218724" cy="218724"/>
          </a:xfrm>
          <a:prstGeom prst="rect">
            <a:avLst/>
          </a:prstGeom>
        </p:spPr>
      </p:pic>
      <p:sp>
        <p:nvSpPr>
          <p:cNvPr id="31" name="Text 24"/>
          <p:cNvSpPr txBox="1"/>
          <p:nvPr/>
        </p:nvSpPr>
        <p:spPr>
          <a:xfrm>
            <a:off x="6903720" y="1947672"/>
            <a:ext cx="1554480" cy="320040"/>
          </a:xfrm>
          <a:prstGeom prst="rect">
            <a:avLst/>
          </a:prstGeom>
          <a:noFill/>
          <a:ln/>
        </p:spPr>
        <p:txBody>
          <a:bodyPr wrap="square" lIns="0" tIns="0" rIns="0" bIns="0" rtlCol="0" anchor="t"/>
          <a:lstStyle/>
          <a:p>
            <a:pPr indent="0" marL="0">
              <a:buNone/>
            </a:pPr>
            <a:r>
              <a:rPr lang="en-US" sz="1600" b="1" dirty="0">
                <a:solidFill>
                  <a:srgbClr val="1F2937"/>
                </a:solidFill>
              </a:rPr>
              <a:t>Simulated</a:t>
            </a:r>
            <a:endParaRPr lang="en-US" sz="1600" dirty="0"/>
          </a:p>
        </p:txBody>
      </p:sp>
      <p:sp>
        <p:nvSpPr>
          <p:cNvPr id="32" name="Bullet"/>
          <p:cNvSpPr/>
          <p:nvPr/>
        </p:nvSpPr>
        <p:spPr>
          <a:xfrm>
            <a:off x="6903720" y="2468880"/>
            <a:ext cx="91440" cy="91440"/>
          </a:xfrm>
          <a:prstGeom prst="ellipse">
            <a:avLst/>
          </a:prstGeom>
          <a:solidFill>
            <a:srgbClr val="F0A43A"/>
          </a:solidFill>
          <a:ln w="12700">
            <a:solidFill>
              <a:srgbClr val="F0A43A"/>
            </a:solidFill>
            <a:prstDash val="solid"/>
          </a:ln>
        </p:spPr>
      </p:sp>
      <p:sp>
        <p:nvSpPr>
          <p:cNvPr id="33" name="Text 26"/>
          <p:cNvSpPr txBox="1"/>
          <p:nvPr/>
        </p:nvSpPr>
        <p:spPr>
          <a:xfrm>
            <a:off x="7086600" y="2377440"/>
            <a:ext cx="1417320" cy="475488"/>
          </a:xfrm>
          <a:prstGeom prst="rect">
            <a:avLst/>
          </a:prstGeom>
          <a:noFill/>
          <a:ln/>
        </p:spPr>
        <p:txBody>
          <a:bodyPr wrap="square" lIns="0" tIns="0" rIns="0" bIns="0" rtlCol="0" anchor="t"/>
          <a:lstStyle/>
          <a:p>
            <a:pPr indent="0" marL="0">
              <a:buNone/>
            </a:pPr>
            <a:r>
              <a:rPr lang="en-US" sz="1200" dirty="0">
                <a:solidFill>
                  <a:srgbClr val="1F2937"/>
                </a:solidFill>
              </a:rPr>
              <a:t>Made-up hospital and patients</a:t>
            </a:r>
            <a:endParaRPr lang="en-US" sz="1200" dirty="0"/>
          </a:p>
        </p:txBody>
      </p:sp>
      <p:sp>
        <p:nvSpPr>
          <p:cNvPr id="34" name="Bullet"/>
          <p:cNvSpPr/>
          <p:nvPr/>
        </p:nvSpPr>
        <p:spPr>
          <a:xfrm>
            <a:off x="6903720" y="2980944"/>
            <a:ext cx="91440" cy="91440"/>
          </a:xfrm>
          <a:prstGeom prst="ellipse">
            <a:avLst/>
          </a:prstGeom>
          <a:solidFill>
            <a:srgbClr val="F0A43A"/>
          </a:solidFill>
          <a:ln w="12700">
            <a:solidFill>
              <a:srgbClr val="F0A43A"/>
            </a:solidFill>
            <a:prstDash val="solid"/>
          </a:ln>
        </p:spPr>
      </p:sp>
      <p:sp>
        <p:nvSpPr>
          <p:cNvPr id="35" name="Text 28"/>
          <p:cNvSpPr txBox="1"/>
          <p:nvPr/>
        </p:nvSpPr>
        <p:spPr>
          <a:xfrm>
            <a:off x="7086600" y="2889504"/>
            <a:ext cx="1417320" cy="475488"/>
          </a:xfrm>
          <a:prstGeom prst="rect">
            <a:avLst/>
          </a:prstGeom>
          <a:noFill/>
          <a:ln/>
        </p:spPr>
        <p:txBody>
          <a:bodyPr wrap="square" lIns="0" tIns="0" rIns="0" bIns="0" rtlCol="0" anchor="t"/>
          <a:lstStyle/>
          <a:p>
            <a:pPr indent="0" marL="0">
              <a:buNone/>
            </a:pPr>
            <a:r>
              <a:rPr lang="en-US" sz="1200" dirty="0">
                <a:solidFill>
                  <a:srgbClr val="1F2937"/>
                </a:solidFill>
              </a:rPr>
              <a:t>SMS on an on-screen phone</a:t>
            </a:r>
            <a:endParaRPr lang="en-US" sz="1200" dirty="0"/>
          </a:p>
        </p:txBody>
      </p:sp>
      <p:sp>
        <p:nvSpPr>
          <p:cNvPr id="36" name="Bullet"/>
          <p:cNvSpPr/>
          <p:nvPr/>
        </p:nvSpPr>
        <p:spPr>
          <a:xfrm>
            <a:off x="6903720" y="3493008"/>
            <a:ext cx="91440" cy="91440"/>
          </a:xfrm>
          <a:prstGeom prst="ellipse">
            <a:avLst/>
          </a:prstGeom>
          <a:solidFill>
            <a:srgbClr val="F0A43A"/>
          </a:solidFill>
          <a:ln w="12700">
            <a:solidFill>
              <a:srgbClr val="F0A43A"/>
            </a:solidFill>
            <a:prstDash val="solid"/>
          </a:ln>
        </p:spPr>
      </p:sp>
      <p:sp>
        <p:nvSpPr>
          <p:cNvPr id="37" name="Text 30"/>
          <p:cNvSpPr txBox="1"/>
          <p:nvPr/>
        </p:nvSpPr>
        <p:spPr>
          <a:xfrm>
            <a:off x="7086600" y="3401568"/>
            <a:ext cx="1417320" cy="475488"/>
          </a:xfrm>
          <a:prstGeom prst="rect">
            <a:avLst/>
          </a:prstGeom>
          <a:noFill/>
          <a:ln/>
        </p:spPr>
        <p:txBody>
          <a:bodyPr wrap="square" lIns="0" tIns="0" rIns="0" bIns="0" rtlCol="0" anchor="t"/>
          <a:lstStyle/>
          <a:p>
            <a:pPr indent="0" marL="0">
              <a:buNone/>
            </a:pPr>
            <a:r>
              <a:rPr lang="en-US" sz="1200" dirty="0">
                <a:solidFill>
                  <a:srgbClr val="1F2937"/>
                </a:solidFill>
              </a:rPr>
              <a:t>UPI payments in demo mode</a:t>
            </a:r>
            <a:endParaRPr lang="en-US" sz="1200" dirty="0"/>
          </a:p>
        </p:txBody>
      </p:sp>
      <p:sp>
        <p:nvSpPr>
          <p:cNvPr id="38" name="Bullet"/>
          <p:cNvSpPr/>
          <p:nvPr/>
        </p:nvSpPr>
        <p:spPr>
          <a:xfrm>
            <a:off x="6903720" y="4005072"/>
            <a:ext cx="91440" cy="91440"/>
          </a:xfrm>
          <a:prstGeom prst="ellipse">
            <a:avLst/>
          </a:prstGeom>
          <a:solidFill>
            <a:srgbClr val="F0A43A"/>
          </a:solidFill>
          <a:ln w="12700">
            <a:solidFill>
              <a:srgbClr val="F0A43A"/>
            </a:solidFill>
            <a:prstDash val="solid"/>
          </a:ln>
        </p:spPr>
      </p:sp>
      <p:sp>
        <p:nvSpPr>
          <p:cNvPr id="39" name="Text 32"/>
          <p:cNvSpPr txBox="1"/>
          <p:nvPr/>
        </p:nvSpPr>
        <p:spPr>
          <a:xfrm>
            <a:off x="7086600" y="3913632"/>
            <a:ext cx="1417320" cy="475488"/>
          </a:xfrm>
          <a:prstGeom prst="rect">
            <a:avLst/>
          </a:prstGeom>
          <a:noFill/>
          <a:ln/>
        </p:spPr>
        <p:txBody>
          <a:bodyPr wrap="square" lIns="0" tIns="0" rIns="0" bIns="0" rtlCol="0" anchor="t"/>
          <a:lstStyle/>
          <a:p>
            <a:pPr indent="0" marL="0">
              <a:buNone/>
            </a:pPr>
            <a:r>
              <a:rPr lang="en-US" sz="1200" dirty="0">
                <a:solidFill>
                  <a:srgbClr val="1F2937"/>
                </a:solidFill>
              </a:rPr>
              <a:t>PM-JAY portal not linked</a:t>
            </a:r>
            <a:endParaRPr lang="en-US" sz="1200" dirty="0"/>
          </a:p>
        </p:txBody>
      </p:sp>
      <p:sp>
        <p:nvSpPr>
          <p:cNvPr id="40" name="Text 33"/>
          <p:cNvSpPr txBox="1"/>
          <p:nvPr/>
        </p:nvSpPr>
        <p:spPr>
          <a:xfrm>
            <a:off x="548640" y="4617720"/>
            <a:ext cx="8046720" cy="274320"/>
          </a:xfrm>
          <a:prstGeom prst="rect">
            <a:avLst/>
          </a:prstGeom>
          <a:noFill/>
          <a:ln/>
        </p:spPr>
        <p:txBody>
          <a:bodyPr wrap="square" lIns="0" tIns="0" rIns="0" bIns="0" rtlCol="0" anchor="t"/>
          <a:lstStyle/>
          <a:p>
            <a:pPr indent="0" marL="0">
              <a:buNone/>
            </a:pPr>
            <a:r>
              <a:rPr lang="en-US" sz="1000" dirty="0">
                <a:solidFill>
                  <a:srgbClr val="5E6B7E"/>
                </a:solidFill>
              </a:rPr>
              <a:t>Tested: all 12 groups of logic checks pass, and every screen was checked from phone to laptop size, in English and Hindi.</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8046720" cy="548640"/>
          </a:xfrm>
          <a:prstGeom prst="rect">
            <a:avLst/>
          </a:prstGeom>
          <a:noFill/>
          <a:ln/>
        </p:spPr>
        <p:txBody>
          <a:bodyPr wrap="square" lIns="0" tIns="0" rIns="0" bIns="0" rtlCol="0" anchor="t"/>
          <a:lstStyle/>
          <a:p>
            <a:pPr algn="l" indent="0" marL="0">
              <a:buNone/>
            </a:pPr>
            <a:r>
              <a:rPr lang="en-US" sz="2800" b="1" dirty="0">
                <a:solidFill>
                  <a:srgbClr val="14213D"/>
                </a:solidFill>
              </a:rPr>
              <a:t>Who it helps, and what comes next</a:t>
            </a:r>
            <a:endParaRPr lang="en-US" sz="2800" dirty="0"/>
          </a:p>
        </p:txBody>
      </p:sp>
      <p:sp>
        <p:nvSpPr>
          <p:cNvPr id="3" name="Text 1"/>
          <p:cNvSpPr txBox="1"/>
          <p:nvPr/>
        </p:nvSpPr>
        <p:spPr>
          <a:xfrm>
            <a:off x="548640" y="1188720"/>
            <a:ext cx="4023360" cy="320040"/>
          </a:xfrm>
          <a:prstGeom prst="rect">
            <a:avLst/>
          </a:prstGeom>
          <a:noFill/>
          <a:ln/>
        </p:spPr>
        <p:txBody>
          <a:bodyPr wrap="square" lIns="0" tIns="0" rIns="0" bIns="0" rtlCol="0" anchor="t"/>
          <a:lstStyle/>
          <a:p>
            <a:pPr indent="0" marL="0">
              <a:buNone/>
            </a:pPr>
            <a:r>
              <a:rPr lang="en-US" sz="1600" b="1" dirty="0">
                <a:solidFill>
                  <a:srgbClr val="1F2937"/>
                </a:solidFill>
              </a:rPr>
              <a:t>Who it helps</a:t>
            </a:r>
            <a:endParaRPr lang="en-US" sz="1600" dirty="0"/>
          </a:p>
        </p:txBody>
      </p:sp>
      <p:sp>
        <p:nvSpPr>
          <p:cNvPr id="4" name="Icon circle"/>
          <p:cNvSpPr/>
          <p:nvPr/>
        </p:nvSpPr>
        <p:spPr>
          <a:xfrm>
            <a:off x="548640" y="1691640"/>
            <a:ext cx="457200" cy="457200"/>
          </a:xfrm>
          <a:prstGeom prst="ellipse">
            <a:avLst/>
          </a:prstGeom>
          <a:solidFill>
            <a:srgbClr val="0B6B4F"/>
          </a:solidFill>
          <a:ln w="12700">
            <a:solidFill>
              <a:srgbClr val="0B6B4F"/>
            </a:solidFill>
            <a:prstDash val="solid"/>
          </a:ln>
        </p:spPr>
      </p:sp>
      <p:pic>
        <p:nvPicPr>
          <p:cNvPr id="5" name="Image 0" descr="/private/tmp/claude-501/-Users-nitinraina-opd-saathi/23bdfde6-3033-4306-a6c1-bdd0b4752ee0/scratchpad/build/img/icon-LuUsers.png">    </p:cNvPr>
          <p:cNvPicPr>
            <a:picLocks noChangeAspect="1"/>
          </p:cNvPicPr>
          <p:nvPr/>
        </p:nvPicPr>
        <p:blipFill>
          <a:blip r:embed="rId1"/>
          <a:stretch>
            <a:fillRect/>
          </a:stretch>
        </p:blipFill>
        <p:spPr>
          <a:xfrm>
            <a:off x="658368" y="1801368"/>
            <a:ext cx="237744" cy="237744"/>
          </a:xfrm>
          <a:prstGeom prst="rect">
            <a:avLst/>
          </a:prstGeom>
        </p:spPr>
      </p:pic>
      <p:sp>
        <p:nvSpPr>
          <p:cNvPr id="6" name="Text 3"/>
          <p:cNvSpPr txBox="1"/>
          <p:nvPr/>
        </p:nvSpPr>
        <p:spPr>
          <a:xfrm>
            <a:off x="1188720" y="1673352"/>
            <a:ext cx="3383280" cy="274320"/>
          </a:xfrm>
          <a:prstGeom prst="rect">
            <a:avLst/>
          </a:prstGeom>
          <a:noFill/>
          <a:ln/>
        </p:spPr>
        <p:txBody>
          <a:bodyPr wrap="square" lIns="0" tIns="0" rIns="0" bIns="0" rtlCol="0" anchor="t"/>
          <a:lstStyle/>
          <a:p>
            <a:pPr indent="0" marL="0">
              <a:buNone/>
            </a:pPr>
            <a:r>
              <a:rPr lang="en-US" sz="1400" b="1" dirty="0">
                <a:solidFill>
                  <a:srgbClr val="1F2937"/>
                </a:solidFill>
              </a:rPr>
              <a:t>Patients and families</a:t>
            </a:r>
            <a:endParaRPr lang="en-US" sz="1400" dirty="0"/>
          </a:p>
        </p:txBody>
      </p:sp>
      <p:sp>
        <p:nvSpPr>
          <p:cNvPr id="7" name="Text 4"/>
          <p:cNvSpPr txBox="1"/>
          <p:nvPr/>
        </p:nvSpPr>
        <p:spPr>
          <a:xfrm>
            <a:off x="1188720" y="1947672"/>
            <a:ext cx="3383280" cy="594360"/>
          </a:xfrm>
          <a:prstGeom prst="rect">
            <a:avLst/>
          </a:prstGeom>
          <a:noFill/>
          <a:ln/>
        </p:spPr>
        <p:txBody>
          <a:bodyPr wrap="square" lIns="0" tIns="0" rIns="0" bIns="0" rtlCol="0" anchor="t"/>
          <a:lstStyle/>
          <a:p>
            <a:pPr indent="0" marL="0">
              <a:buNone/>
            </a:pPr>
            <a:r>
              <a:rPr lang="en-US" sz="1200" dirty="0">
                <a:solidFill>
                  <a:srgbClr val="5E6B7E"/>
                </a:solidFill>
              </a:rPr>
              <a:t>Especially elders, first-time visitors and people more at home in Hindi.</a:t>
            </a:r>
            <a:endParaRPr lang="en-US" sz="1200" dirty="0"/>
          </a:p>
        </p:txBody>
      </p:sp>
      <p:sp>
        <p:nvSpPr>
          <p:cNvPr id="8" name="Icon circle"/>
          <p:cNvSpPr/>
          <p:nvPr/>
        </p:nvSpPr>
        <p:spPr>
          <a:xfrm>
            <a:off x="548640" y="2606040"/>
            <a:ext cx="457200" cy="457200"/>
          </a:xfrm>
          <a:prstGeom prst="ellipse">
            <a:avLst/>
          </a:prstGeom>
          <a:solidFill>
            <a:srgbClr val="0B6B4F"/>
          </a:solidFill>
          <a:ln w="12700">
            <a:solidFill>
              <a:srgbClr val="0B6B4F"/>
            </a:solidFill>
            <a:prstDash val="solid"/>
          </a:ln>
        </p:spPr>
      </p:sp>
      <p:pic>
        <p:nvPicPr>
          <p:cNvPr id="9" name="Image 1" descr="/private/tmp/claude-501/-Users-nitinraina-opd-saathi/23bdfde6-3033-4306-a6c1-bdd0b4752ee0/scratchpad/build/img/icon-LuSmartphone.png">    </p:cNvPr>
          <p:cNvPicPr>
            <a:picLocks noChangeAspect="1"/>
          </p:cNvPicPr>
          <p:nvPr/>
        </p:nvPicPr>
        <p:blipFill>
          <a:blip r:embed="rId2"/>
          <a:stretch>
            <a:fillRect/>
          </a:stretch>
        </p:blipFill>
        <p:spPr>
          <a:xfrm>
            <a:off x="658368" y="2715768"/>
            <a:ext cx="237744" cy="237744"/>
          </a:xfrm>
          <a:prstGeom prst="rect">
            <a:avLst/>
          </a:prstGeom>
        </p:spPr>
      </p:pic>
      <p:sp>
        <p:nvSpPr>
          <p:cNvPr id="10" name="Text 6"/>
          <p:cNvSpPr txBox="1"/>
          <p:nvPr/>
        </p:nvSpPr>
        <p:spPr>
          <a:xfrm>
            <a:off x="1188720" y="2587752"/>
            <a:ext cx="3383280" cy="274320"/>
          </a:xfrm>
          <a:prstGeom prst="rect">
            <a:avLst/>
          </a:prstGeom>
          <a:noFill/>
          <a:ln/>
        </p:spPr>
        <p:txBody>
          <a:bodyPr wrap="square" lIns="0" tIns="0" rIns="0" bIns="0" rtlCol="0" anchor="t"/>
          <a:lstStyle/>
          <a:p>
            <a:pPr indent="0" marL="0">
              <a:buNone/>
            </a:pPr>
            <a:r>
              <a:rPr lang="en-US" sz="1400" b="1" dirty="0">
                <a:solidFill>
                  <a:srgbClr val="1F2937"/>
                </a:solidFill>
              </a:rPr>
              <a:t>People without a smartphone</a:t>
            </a:r>
            <a:endParaRPr lang="en-US" sz="1400" dirty="0"/>
          </a:p>
        </p:txBody>
      </p:sp>
      <p:sp>
        <p:nvSpPr>
          <p:cNvPr id="11" name="Text 7"/>
          <p:cNvSpPr txBox="1"/>
          <p:nvPr/>
        </p:nvSpPr>
        <p:spPr>
          <a:xfrm>
            <a:off x="1188720" y="2862072"/>
            <a:ext cx="3383280" cy="594360"/>
          </a:xfrm>
          <a:prstGeom prst="rect">
            <a:avLst/>
          </a:prstGeom>
          <a:noFill/>
          <a:ln/>
        </p:spPr>
        <p:txBody>
          <a:bodyPr wrap="square" lIns="0" tIns="0" rIns="0" bIns="0" rtlCol="0" anchor="t"/>
          <a:lstStyle/>
          <a:p>
            <a:pPr indent="0" marL="0">
              <a:buNone/>
            </a:pPr>
            <a:r>
              <a:rPr lang="en-US" sz="1200" dirty="0">
                <a:solidFill>
                  <a:srgbClr val="5E6B7E"/>
                </a:solidFill>
              </a:rPr>
              <a:t>Can follow the line by SMS from any basic phone.</a:t>
            </a:r>
            <a:endParaRPr lang="en-US" sz="1200" dirty="0"/>
          </a:p>
        </p:txBody>
      </p:sp>
      <p:sp>
        <p:nvSpPr>
          <p:cNvPr id="12" name="Icon circle"/>
          <p:cNvSpPr/>
          <p:nvPr/>
        </p:nvSpPr>
        <p:spPr>
          <a:xfrm>
            <a:off x="548640" y="3520440"/>
            <a:ext cx="457200" cy="457200"/>
          </a:xfrm>
          <a:prstGeom prst="ellipse">
            <a:avLst/>
          </a:prstGeom>
          <a:solidFill>
            <a:srgbClr val="0B6B4F"/>
          </a:solidFill>
          <a:ln w="12700">
            <a:solidFill>
              <a:srgbClr val="0B6B4F"/>
            </a:solidFill>
            <a:prstDash val="solid"/>
          </a:ln>
        </p:spPr>
      </p:sp>
      <p:pic>
        <p:nvPicPr>
          <p:cNvPr id="13" name="Image 2" descr="/private/tmp/claude-501/-Users-nitinraina-opd-saathi/23bdfde6-3033-4306-a6c1-bdd0b4752ee0/scratchpad/build/img/icon-LuStethoscope.png">    </p:cNvPr>
          <p:cNvPicPr>
            <a:picLocks noChangeAspect="1"/>
          </p:cNvPicPr>
          <p:nvPr/>
        </p:nvPicPr>
        <p:blipFill>
          <a:blip r:embed="rId3"/>
          <a:stretch>
            <a:fillRect/>
          </a:stretch>
        </p:blipFill>
        <p:spPr>
          <a:xfrm>
            <a:off x="658368" y="3630168"/>
            <a:ext cx="237744" cy="237744"/>
          </a:xfrm>
          <a:prstGeom prst="rect">
            <a:avLst/>
          </a:prstGeom>
        </p:spPr>
      </p:pic>
      <p:sp>
        <p:nvSpPr>
          <p:cNvPr id="14" name="Text 9"/>
          <p:cNvSpPr txBox="1"/>
          <p:nvPr/>
        </p:nvSpPr>
        <p:spPr>
          <a:xfrm>
            <a:off x="1188720" y="3502152"/>
            <a:ext cx="3383280" cy="274320"/>
          </a:xfrm>
          <a:prstGeom prst="rect">
            <a:avLst/>
          </a:prstGeom>
          <a:noFill/>
          <a:ln/>
        </p:spPr>
        <p:txBody>
          <a:bodyPr wrap="square" lIns="0" tIns="0" rIns="0" bIns="0" rtlCol="0" anchor="t"/>
          <a:lstStyle/>
          <a:p>
            <a:pPr indent="0" marL="0">
              <a:buNone/>
            </a:pPr>
            <a:r>
              <a:rPr lang="en-US" sz="1400" b="1" dirty="0">
                <a:solidFill>
                  <a:srgbClr val="1F2937"/>
                </a:solidFill>
              </a:rPr>
              <a:t>Doctors, nurses, front desk</a:t>
            </a:r>
            <a:endParaRPr lang="en-US" sz="1400" dirty="0"/>
          </a:p>
        </p:txBody>
      </p:sp>
      <p:sp>
        <p:nvSpPr>
          <p:cNvPr id="15" name="Text 10"/>
          <p:cNvSpPr txBox="1"/>
          <p:nvPr/>
        </p:nvSpPr>
        <p:spPr>
          <a:xfrm>
            <a:off x="1188720" y="3776472"/>
            <a:ext cx="3383280" cy="594360"/>
          </a:xfrm>
          <a:prstGeom prst="rect">
            <a:avLst/>
          </a:prstGeom>
          <a:noFill/>
          <a:ln/>
        </p:spPr>
        <p:txBody>
          <a:bodyPr wrap="square" lIns="0" tIns="0" rIns="0" bIns="0" rtlCol="0" anchor="t"/>
          <a:lstStyle/>
          <a:p>
            <a:pPr indent="0" marL="0">
              <a:buNone/>
            </a:pPr>
            <a:r>
              <a:rPr lang="en-US" sz="1200" dirty="0">
                <a:solidFill>
                  <a:srgbClr val="5E6B7E"/>
                </a:solidFill>
              </a:rPr>
              <a:t>See every queue live, get urgent alerts at once, and plan for busy days.</a:t>
            </a:r>
            <a:endParaRPr lang="en-US" sz="1200" dirty="0"/>
          </a:p>
        </p:txBody>
      </p:sp>
      <p:sp>
        <p:nvSpPr>
          <p:cNvPr id="16" name="Next card"/>
          <p:cNvSpPr/>
          <p:nvPr/>
        </p:nvSpPr>
        <p:spPr>
          <a:xfrm>
            <a:off x="4937760" y="1188720"/>
            <a:ext cx="3657600" cy="3429000"/>
          </a:xfrm>
          <a:prstGeom prst="roundRect">
            <a:avLst>
              <a:gd name="adj" fmla="val 4000"/>
            </a:avLst>
          </a:prstGeom>
          <a:solidFill>
            <a:srgbClr val="14213D"/>
          </a:solidFill>
          <a:ln w="12700">
            <a:solidFill>
              <a:srgbClr val="14213D"/>
            </a:solidFill>
            <a:prstDash val="solid"/>
          </a:ln>
        </p:spPr>
      </p:sp>
      <p:sp>
        <p:nvSpPr>
          <p:cNvPr id="17" name="Text 12"/>
          <p:cNvSpPr txBox="1"/>
          <p:nvPr/>
        </p:nvSpPr>
        <p:spPr>
          <a:xfrm>
            <a:off x="5212080" y="1417320"/>
            <a:ext cx="3200400" cy="320040"/>
          </a:xfrm>
          <a:prstGeom prst="rect">
            <a:avLst/>
          </a:prstGeom>
          <a:noFill/>
          <a:ln/>
        </p:spPr>
        <p:txBody>
          <a:bodyPr wrap="square" lIns="0" tIns="0" rIns="0" bIns="0" rtlCol="0" anchor="t"/>
          <a:lstStyle/>
          <a:p>
            <a:pPr indent="0" marL="0">
              <a:buNone/>
            </a:pPr>
            <a:r>
              <a:rPr lang="en-US" sz="1600" b="1" dirty="0">
                <a:solidFill>
                  <a:srgbClr val="FFFFFF"/>
                </a:solidFill>
              </a:rPr>
              <a:t>What we would build next</a:t>
            </a:r>
            <a:endParaRPr lang="en-US" sz="1600" dirty="0"/>
          </a:p>
        </p:txBody>
      </p:sp>
      <p:sp>
        <p:nvSpPr>
          <p:cNvPr id="18" name="Number circle"/>
          <p:cNvSpPr/>
          <p:nvPr/>
        </p:nvSpPr>
        <p:spPr>
          <a:xfrm>
            <a:off x="5212080" y="2011680"/>
            <a:ext cx="365760" cy="365760"/>
          </a:xfrm>
          <a:prstGeom prst="ellipse">
            <a:avLst/>
          </a:prstGeom>
          <a:solidFill>
            <a:srgbClr val="F0A43A"/>
          </a:solidFill>
          <a:ln w="12700">
            <a:solidFill>
              <a:srgbClr val="F0A43A"/>
            </a:solidFill>
            <a:prstDash val="solid"/>
          </a:ln>
        </p:spPr>
      </p:sp>
      <p:sp>
        <p:nvSpPr>
          <p:cNvPr id="19" name="Text 14"/>
          <p:cNvSpPr txBox="1"/>
          <p:nvPr/>
        </p:nvSpPr>
        <p:spPr>
          <a:xfrm>
            <a:off x="5212080" y="201168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20" name="Text 15"/>
          <p:cNvSpPr txBox="1"/>
          <p:nvPr/>
        </p:nvSpPr>
        <p:spPr>
          <a:xfrm>
            <a:off x="5760720" y="1993392"/>
            <a:ext cx="2606040" cy="685800"/>
          </a:xfrm>
          <a:prstGeom prst="rect">
            <a:avLst/>
          </a:prstGeom>
          <a:noFill/>
          <a:ln/>
        </p:spPr>
        <p:txBody>
          <a:bodyPr wrap="square" lIns="0" tIns="0" rIns="0" bIns="0" rtlCol="0" anchor="t"/>
          <a:lstStyle/>
          <a:p>
            <a:pPr indent="0" marL="0">
              <a:buNone/>
            </a:pPr>
            <a:r>
              <a:rPr lang="en-US" sz="1300" dirty="0">
                <a:solidFill>
                  <a:srgbClr val="FFFFFF"/>
                </a:solidFill>
              </a:rPr>
              <a:t>A pilot in one district hospital OPD, with its real rooms and timings</a:t>
            </a:r>
            <a:endParaRPr lang="en-US" sz="1300" dirty="0"/>
          </a:p>
        </p:txBody>
      </p:sp>
      <p:sp>
        <p:nvSpPr>
          <p:cNvPr id="21" name="Number circle"/>
          <p:cNvSpPr/>
          <p:nvPr/>
        </p:nvSpPr>
        <p:spPr>
          <a:xfrm>
            <a:off x="5212080" y="2834640"/>
            <a:ext cx="365760" cy="365760"/>
          </a:xfrm>
          <a:prstGeom prst="ellipse">
            <a:avLst/>
          </a:prstGeom>
          <a:solidFill>
            <a:srgbClr val="F0A43A"/>
          </a:solidFill>
          <a:ln w="12700">
            <a:solidFill>
              <a:srgbClr val="F0A43A"/>
            </a:solidFill>
            <a:prstDash val="solid"/>
          </a:ln>
        </p:spPr>
      </p:sp>
      <p:sp>
        <p:nvSpPr>
          <p:cNvPr id="22" name="Text 17"/>
          <p:cNvSpPr txBox="1"/>
          <p:nvPr/>
        </p:nvSpPr>
        <p:spPr>
          <a:xfrm>
            <a:off x="5212080" y="283464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23" name="Text 18"/>
          <p:cNvSpPr txBox="1"/>
          <p:nvPr/>
        </p:nvSpPr>
        <p:spPr>
          <a:xfrm>
            <a:off x="5760720" y="2816352"/>
            <a:ext cx="2606040" cy="685800"/>
          </a:xfrm>
          <a:prstGeom prst="rect">
            <a:avLst/>
          </a:prstGeom>
          <a:noFill/>
          <a:ln/>
        </p:spPr>
        <p:txBody>
          <a:bodyPr wrap="square" lIns="0" tIns="0" rIns="0" bIns="0" rtlCol="0" anchor="t"/>
          <a:lstStyle/>
          <a:p>
            <a:pPr indent="0" marL="0">
              <a:buNone/>
            </a:pPr>
            <a:r>
              <a:rPr lang="en-US" sz="1300" dirty="0">
                <a:solidFill>
                  <a:srgbClr val="FFFFFF"/>
                </a:solidFill>
              </a:rPr>
              <a:t>Real SMS through a gateway, and Urdu, Kashmiri and Dogri</a:t>
            </a:r>
            <a:endParaRPr lang="en-US" sz="1300" dirty="0"/>
          </a:p>
        </p:txBody>
      </p:sp>
      <p:sp>
        <p:nvSpPr>
          <p:cNvPr id="24" name="Number circle"/>
          <p:cNvSpPr/>
          <p:nvPr/>
        </p:nvSpPr>
        <p:spPr>
          <a:xfrm>
            <a:off x="5212080" y="3657600"/>
            <a:ext cx="365760" cy="365760"/>
          </a:xfrm>
          <a:prstGeom prst="ellipse">
            <a:avLst/>
          </a:prstGeom>
          <a:solidFill>
            <a:srgbClr val="F0A43A"/>
          </a:solidFill>
          <a:ln w="12700">
            <a:solidFill>
              <a:srgbClr val="F0A43A"/>
            </a:solidFill>
            <a:prstDash val="solid"/>
          </a:ln>
        </p:spPr>
      </p:sp>
      <p:sp>
        <p:nvSpPr>
          <p:cNvPr id="25" name="Text 20"/>
          <p:cNvSpPr txBox="1"/>
          <p:nvPr/>
        </p:nvSpPr>
        <p:spPr>
          <a:xfrm>
            <a:off x="5212080" y="365760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26" name="Text 21"/>
          <p:cNvSpPr txBox="1"/>
          <p:nvPr/>
        </p:nvSpPr>
        <p:spPr>
          <a:xfrm>
            <a:off x="5760720" y="3639312"/>
            <a:ext cx="2606040" cy="685800"/>
          </a:xfrm>
          <a:prstGeom prst="rect">
            <a:avLst/>
          </a:prstGeom>
          <a:noFill/>
          <a:ln/>
        </p:spPr>
        <p:txBody>
          <a:bodyPr wrap="square" lIns="0" tIns="0" rIns="0" bIns="0" rtlCol="0" anchor="t"/>
          <a:lstStyle/>
          <a:p>
            <a:pPr indent="0" marL="0">
              <a:buNone/>
            </a:pPr>
            <a:r>
              <a:rPr lang="en-US" sz="1300" dirty="0">
                <a:solidFill>
                  <a:srgbClr val="FFFFFF"/>
                </a:solidFill>
              </a:rPr>
              <a:t>Links to the hospital’s records (ABDM) and the PM-JAY portal</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502920"/>
            <a:ext cx="5486400" cy="731520"/>
          </a:xfrm>
          <a:prstGeom prst="rect">
            <a:avLst/>
          </a:prstGeom>
          <a:noFill/>
          <a:ln/>
        </p:spPr>
        <p:txBody>
          <a:bodyPr wrap="square" lIns="0" tIns="0" rIns="0" bIns="0" rtlCol="0" anchor="t"/>
          <a:lstStyle/>
          <a:p>
            <a:pPr algn="l" indent="0" marL="0">
              <a:buNone/>
            </a:pPr>
            <a:r>
              <a:rPr lang="en-US" sz="4000" b="1" dirty="0">
                <a:solidFill>
                  <a:srgbClr val="FFFFFF"/>
                </a:solidFill>
              </a:rPr>
              <a:t>[Team name]</a:t>
            </a:r>
            <a:endParaRPr lang="en-US" sz="4000" dirty="0"/>
          </a:p>
        </p:txBody>
      </p:sp>
      <p:pic>
        <p:nvPicPr>
          <p:cNvPr id="3" name="Image 0" descr="cachedinfo and GCET Jammu">    </p:cNvPr>
          <p:cNvPicPr>
            <a:picLocks noChangeAspect="1"/>
          </p:cNvPicPr>
          <p:nvPr/>
        </p:nvPicPr>
        <p:blipFill>
          <a:blip r:embed="rId1"/>
          <a:stretch>
            <a:fillRect/>
          </a:stretch>
        </p:blipFill>
        <p:spPr>
          <a:xfrm>
            <a:off x="6272784" y="704088"/>
            <a:ext cx="2322576" cy="329184"/>
          </a:xfrm>
          <a:prstGeom prst="rect">
            <a:avLst/>
          </a:prstGeom>
        </p:spPr>
      </p:pic>
      <p:sp>
        <p:nvSpPr>
          <p:cNvPr id="4" name="Text 1"/>
          <p:cNvSpPr txBox="1"/>
          <p:nvPr/>
        </p:nvSpPr>
        <p:spPr>
          <a:xfrm>
            <a:off x="548640" y="1234440"/>
            <a:ext cx="8046720" cy="365760"/>
          </a:xfrm>
          <a:prstGeom prst="rect">
            <a:avLst/>
          </a:prstGeom>
          <a:noFill/>
          <a:ln/>
        </p:spPr>
        <p:txBody>
          <a:bodyPr wrap="square" lIns="0" tIns="0" rIns="0" bIns="0" rtlCol="0" anchor="t"/>
          <a:lstStyle/>
          <a:p>
            <a:pPr indent="0" marL="0">
              <a:buNone/>
            </a:pPr>
            <a:r>
              <a:rPr lang="en-US" sz="1600" dirty="0">
                <a:solidFill>
                  <a:srgbClr val="B9C8F2"/>
                </a:solidFill>
              </a:rPr>
              <a:t>Try OPD Saathi on your phone right now.</a:t>
            </a:r>
            <a:endParaRPr lang="en-US" sz="1600" dirty="0"/>
          </a:p>
        </p:txBody>
      </p:sp>
      <p:sp>
        <p:nvSpPr>
          <p:cNvPr id="5" name="Member card"/>
          <p:cNvSpPr/>
          <p:nvPr/>
        </p:nvSpPr>
        <p:spPr>
          <a:xfrm>
            <a:off x="548640" y="1920240"/>
            <a:ext cx="2468880" cy="1143000"/>
          </a:xfrm>
          <a:prstGeom prst="roundRect">
            <a:avLst>
              <a:gd name="adj" fmla="val 12000"/>
            </a:avLst>
          </a:prstGeom>
          <a:solidFill>
            <a:srgbClr val="1D2D52"/>
          </a:solidFill>
          <a:ln w="12700">
            <a:solidFill>
              <a:srgbClr val="1D2D52"/>
            </a:solidFill>
            <a:prstDash val="solid"/>
          </a:ln>
        </p:spPr>
      </p:sp>
      <p:sp>
        <p:nvSpPr>
          <p:cNvPr id="6" name="Icon circle"/>
          <p:cNvSpPr/>
          <p:nvPr/>
        </p:nvSpPr>
        <p:spPr>
          <a:xfrm>
            <a:off x="777240" y="2194560"/>
            <a:ext cx="594360" cy="594360"/>
          </a:xfrm>
          <a:prstGeom prst="ellipse">
            <a:avLst/>
          </a:prstGeom>
          <a:solidFill>
            <a:srgbClr val="0B6B4F"/>
          </a:solidFill>
          <a:ln w="12700">
            <a:solidFill>
              <a:srgbClr val="0B6B4F"/>
            </a:solidFill>
            <a:prstDash val="solid"/>
          </a:ln>
        </p:spPr>
      </p:sp>
      <p:pic>
        <p:nvPicPr>
          <p:cNvPr id="7" name="Image 1" descr="/private/tmp/claude-501/-Users-nitinraina-opd-saathi/23bdfde6-3033-4306-a6c1-bdd0b4752ee0/scratchpad/build/img/icon-LuUser.png">    </p:cNvPr>
          <p:cNvPicPr>
            <a:picLocks noChangeAspect="1"/>
          </p:cNvPicPr>
          <p:nvPr/>
        </p:nvPicPr>
        <p:blipFill>
          <a:blip r:embed="rId2"/>
          <a:stretch>
            <a:fillRect/>
          </a:stretch>
        </p:blipFill>
        <p:spPr>
          <a:xfrm>
            <a:off x="925830" y="2343150"/>
            <a:ext cx="297180" cy="297180"/>
          </a:xfrm>
          <a:prstGeom prst="rect">
            <a:avLst/>
          </a:prstGeom>
        </p:spPr>
      </p:pic>
      <p:sp>
        <p:nvSpPr>
          <p:cNvPr id="8" name="Text 4"/>
          <p:cNvSpPr txBox="1"/>
          <p:nvPr/>
        </p:nvSpPr>
        <p:spPr>
          <a:xfrm>
            <a:off x="1508760" y="2212848"/>
            <a:ext cx="1417320" cy="274320"/>
          </a:xfrm>
          <a:prstGeom prst="rect">
            <a:avLst/>
          </a:prstGeom>
          <a:noFill/>
          <a:ln/>
        </p:spPr>
        <p:txBody>
          <a:bodyPr wrap="square" lIns="0" tIns="0" rIns="0" bIns="0" rtlCol="0" anchor="t"/>
          <a:lstStyle/>
          <a:p>
            <a:pPr indent="0" marL="0">
              <a:buNone/>
            </a:pPr>
            <a:r>
              <a:rPr lang="en-US" sz="1400" b="1" dirty="0">
                <a:solidFill>
                  <a:srgbClr val="FFFFFF"/>
                </a:solidFill>
              </a:rPr>
              <a:t>[Name]</a:t>
            </a:r>
            <a:endParaRPr lang="en-US" sz="1400" dirty="0"/>
          </a:p>
        </p:txBody>
      </p:sp>
      <p:sp>
        <p:nvSpPr>
          <p:cNvPr id="9" name="Text 5"/>
          <p:cNvSpPr txBox="1"/>
          <p:nvPr/>
        </p:nvSpPr>
        <p:spPr>
          <a:xfrm>
            <a:off x="1508760" y="2505456"/>
            <a:ext cx="1417320" cy="274320"/>
          </a:xfrm>
          <a:prstGeom prst="rect">
            <a:avLst/>
          </a:prstGeom>
          <a:noFill/>
          <a:ln/>
        </p:spPr>
        <p:txBody>
          <a:bodyPr wrap="square" lIns="0" tIns="0" rIns="0" bIns="0" rtlCol="0" anchor="t"/>
          <a:lstStyle/>
          <a:p>
            <a:pPr indent="0" marL="0">
              <a:buNone/>
            </a:pPr>
            <a:r>
              <a:rPr lang="en-US" sz="1100" dirty="0">
                <a:solidFill>
                  <a:srgbClr val="9AA8C7"/>
                </a:solidFill>
              </a:rPr>
              <a:t>[Role]</a:t>
            </a:r>
            <a:endParaRPr lang="en-US" sz="1100" dirty="0"/>
          </a:p>
        </p:txBody>
      </p:sp>
      <p:sp>
        <p:nvSpPr>
          <p:cNvPr id="10" name="Member card"/>
          <p:cNvSpPr/>
          <p:nvPr/>
        </p:nvSpPr>
        <p:spPr>
          <a:xfrm>
            <a:off x="3246120" y="1920240"/>
            <a:ext cx="2468880" cy="1143000"/>
          </a:xfrm>
          <a:prstGeom prst="roundRect">
            <a:avLst>
              <a:gd name="adj" fmla="val 12000"/>
            </a:avLst>
          </a:prstGeom>
          <a:solidFill>
            <a:srgbClr val="1D2D52"/>
          </a:solidFill>
          <a:ln w="12700">
            <a:solidFill>
              <a:srgbClr val="1D2D52"/>
            </a:solidFill>
            <a:prstDash val="solid"/>
          </a:ln>
        </p:spPr>
      </p:sp>
      <p:sp>
        <p:nvSpPr>
          <p:cNvPr id="11" name="Icon circle"/>
          <p:cNvSpPr/>
          <p:nvPr/>
        </p:nvSpPr>
        <p:spPr>
          <a:xfrm>
            <a:off x="3474720" y="2194560"/>
            <a:ext cx="594360" cy="594360"/>
          </a:xfrm>
          <a:prstGeom prst="ellipse">
            <a:avLst/>
          </a:prstGeom>
          <a:solidFill>
            <a:srgbClr val="0B6B4F"/>
          </a:solidFill>
          <a:ln w="12700">
            <a:solidFill>
              <a:srgbClr val="0B6B4F"/>
            </a:solidFill>
            <a:prstDash val="solid"/>
          </a:ln>
        </p:spPr>
      </p:sp>
      <p:pic>
        <p:nvPicPr>
          <p:cNvPr id="12" name="Image 2" descr="/private/tmp/claude-501/-Users-nitinraina-opd-saathi/23bdfde6-3033-4306-a6c1-bdd0b4752ee0/scratchpad/build/img/icon-LuUser.png">    </p:cNvPr>
          <p:cNvPicPr>
            <a:picLocks noChangeAspect="1"/>
          </p:cNvPicPr>
          <p:nvPr/>
        </p:nvPicPr>
        <p:blipFill>
          <a:blip r:embed="rId3"/>
          <a:stretch>
            <a:fillRect/>
          </a:stretch>
        </p:blipFill>
        <p:spPr>
          <a:xfrm>
            <a:off x="3623310" y="2343150"/>
            <a:ext cx="297180" cy="297180"/>
          </a:xfrm>
          <a:prstGeom prst="rect">
            <a:avLst/>
          </a:prstGeom>
        </p:spPr>
      </p:pic>
      <p:sp>
        <p:nvSpPr>
          <p:cNvPr id="13" name="Text 8"/>
          <p:cNvSpPr txBox="1"/>
          <p:nvPr/>
        </p:nvSpPr>
        <p:spPr>
          <a:xfrm>
            <a:off x="4206240" y="2212848"/>
            <a:ext cx="1417320" cy="274320"/>
          </a:xfrm>
          <a:prstGeom prst="rect">
            <a:avLst/>
          </a:prstGeom>
          <a:noFill/>
          <a:ln/>
        </p:spPr>
        <p:txBody>
          <a:bodyPr wrap="square" lIns="0" tIns="0" rIns="0" bIns="0" rtlCol="0" anchor="t"/>
          <a:lstStyle/>
          <a:p>
            <a:pPr indent="0" marL="0">
              <a:buNone/>
            </a:pPr>
            <a:r>
              <a:rPr lang="en-US" sz="1400" b="1" dirty="0">
                <a:solidFill>
                  <a:srgbClr val="FFFFFF"/>
                </a:solidFill>
              </a:rPr>
              <a:t>[Name]</a:t>
            </a:r>
            <a:endParaRPr lang="en-US" sz="1400" dirty="0"/>
          </a:p>
        </p:txBody>
      </p:sp>
      <p:sp>
        <p:nvSpPr>
          <p:cNvPr id="14" name="Text 9"/>
          <p:cNvSpPr txBox="1"/>
          <p:nvPr/>
        </p:nvSpPr>
        <p:spPr>
          <a:xfrm>
            <a:off x="4206240" y="2505456"/>
            <a:ext cx="1417320" cy="274320"/>
          </a:xfrm>
          <a:prstGeom prst="rect">
            <a:avLst/>
          </a:prstGeom>
          <a:noFill/>
          <a:ln/>
        </p:spPr>
        <p:txBody>
          <a:bodyPr wrap="square" lIns="0" tIns="0" rIns="0" bIns="0" rtlCol="0" anchor="t"/>
          <a:lstStyle/>
          <a:p>
            <a:pPr indent="0" marL="0">
              <a:buNone/>
            </a:pPr>
            <a:r>
              <a:rPr lang="en-US" sz="1100" dirty="0">
                <a:solidFill>
                  <a:srgbClr val="9AA8C7"/>
                </a:solidFill>
              </a:rPr>
              <a:t>[Role]</a:t>
            </a:r>
            <a:endParaRPr lang="en-US" sz="1100" dirty="0"/>
          </a:p>
        </p:txBody>
      </p:sp>
      <p:sp>
        <p:nvSpPr>
          <p:cNvPr id="15" name="Member card"/>
          <p:cNvSpPr/>
          <p:nvPr/>
        </p:nvSpPr>
        <p:spPr>
          <a:xfrm>
            <a:off x="5943600" y="1920240"/>
            <a:ext cx="2468880" cy="1143000"/>
          </a:xfrm>
          <a:prstGeom prst="roundRect">
            <a:avLst>
              <a:gd name="adj" fmla="val 12000"/>
            </a:avLst>
          </a:prstGeom>
          <a:solidFill>
            <a:srgbClr val="1D2D52"/>
          </a:solidFill>
          <a:ln w="12700">
            <a:solidFill>
              <a:srgbClr val="1D2D52"/>
            </a:solidFill>
            <a:prstDash val="solid"/>
          </a:ln>
        </p:spPr>
      </p:sp>
      <p:sp>
        <p:nvSpPr>
          <p:cNvPr id="16" name="Icon circle"/>
          <p:cNvSpPr/>
          <p:nvPr/>
        </p:nvSpPr>
        <p:spPr>
          <a:xfrm>
            <a:off x="6172200" y="2194560"/>
            <a:ext cx="594360" cy="594360"/>
          </a:xfrm>
          <a:prstGeom prst="ellipse">
            <a:avLst/>
          </a:prstGeom>
          <a:solidFill>
            <a:srgbClr val="0B6B4F"/>
          </a:solidFill>
          <a:ln w="12700">
            <a:solidFill>
              <a:srgbClr val="0B6B4F"/>
            </a:solidFill>
            <a:prstDash val="solid"/>
          </a:ln>
        </p:spPr>
      </p:sp>
      <p:pic>
        <p:nvPicPr>
          <p:cNvPr id="17" name="Image 3" descr="/private/tmp/claude-501/-Users-nitinraina-opd-saathi/23bdfde6-3033-4306-a6c1-bdd0b4752ee0/scratchpad/build/img/icon-LuUser.png">    </p:cNvPr>
          <p:cNvPicPr>
            <a:picLocks noChangeAspect="1"/>
          </p:cNvPicPr>
          <p:nvPr/>
        </p:nvPicPr>
        <p:blipFill>
          <a:blip r:embed="rId4"/>
          <a:stretch>
            <a:fillRect/>
          </a:stretch>
        </p:blipFill>
        <p:spPr>
          <a:xfrm>
            <a:off x="6320790" y="2343150"/>
            <a:ext cx="297180" cy="297180"/>
          </a:xfrm>
          <a:prstGeom prst="rect">
            <a:avLst/>
          </a:prstGeom>
        </p:spPr>
      </p:pic>
      <p:sp>
        <p:nvSpPr>
          <p:cNvPr id="18" name="Text 12"/>
          <p:cNvSpPr txBox="1"/>
          <p:nvPr/>
        </p:nvSpPr>
        <p:spPr>
          <a:xfrm>
            <a:off x="6903720" y="2212848"/>
            <a:ext cx="1417320" cy="274320"/>
          </a:xfrm>
          <a:prstGeom prst="rect">
            <a:avLst/>
          </a:prstGeom>
          <a:noFill/>
          <a:ln/>
        </p:spPr>
        <p:txBody>
          <a:bodyPr wrap="square" lIns="0" tIns="0" rIns="0" bIns="0" rtlCol="0" anchor="t"/>
          <a:lstStyle/>
          <a:p>
            <a:pPr indent="0" marL="0">
              <a:buNone/>
            </a:pPr>
            <a:r>
              <a:rPr lang="en-US" sz="1400" b="1" dirty="0">
                <a:solidFill>
                  <a:srgbClr val="FFFFFF"/>
                </a:solidFill>
              </a:rPr>
              <a:t>[Name]</a:t>
            </a:r>
            <a:endParaRPr lang="en-US" sz="1400" dirty="0"/>
          </a:p>
        </p:txBody>
      </p:sp>
      <p:sp>
        <p:nvSpPr>
          <p:cNvPr id="19" name="Text 13"/>
          <p:cNvSpPr txBox="1"/>
          <p:nvPr/>
        </p:nvSpPr>
        <p:spPr>
          <a:xfrm>
            <a:off x="6903720" y="2505456"/>
            <a:ext cx="1417320" cy="274320"/>
          </a:xfrm>
          <a:prstGeom prst="rect">
            <a:avLst/>
          </a:prstGeom>
          <a:noFill/>
          <a:ln/>
        </p:spPr>
        <p:txBody>
          <a:bodyPr wrap="square" lIns="0" tIns="0" rIns="0" bIns="0" rtlCol="0" anchor="t"/>
          <a:lstStyle/>
          <a:p>
            <a:pPr indent="0" marL="0">
              <a:buNone/>
            </a:pPr>
            <a:r>
              <a:rPr lang="en-US" sz="1100" dirty="0">
                <a:solidFill>
                  <a:srgbClr val="9AA8C7"/>
                </a:solidFill>
              </a:rPr>
              <a:t>[Role]</a:t>
            </a:r>
            <a:endParaRPr lang="en-US" sz="1100" dirty="0"/>
          </a:p>
        </p:txBody>
      </p:sp>
      <p:pic>
        <p:nvPicPr>
          <p:cNvPr id="20" name="Image 4" descr="/private/tmp/claude-501/-Users-nitinraina-opd-saathi/23bdfde6-3033-4306-a6c1-bdd0b4752ee0/scratchpad/build/img/icon-LuGlobe.png">    </p:cNvPr>
          <p:cNvPicPr>
            <a:picLocks noChangeAspect="1"/>
          </p:cNvPicPr>
          <p:nvPr/>
        </p:nvPicPr>
        <p:blipFill>
          <a:blip r:embed="rId5"/>
          <a:stretch>
            <a:fillRect/>
          </a:stretch>
        </p:blipFill>
        <p:spPr>
          <a:xfrm>
            <a:off x="548640" y="3557016"/>
            <a:ext cx="256032" cy="256032"/>
          </a:xfrm>
          <a:prstGeom prst="rect">
            <a:avLst/>
          </a:prstGeom>
        </p:spPr>
      </p:pic>
      <p:sp>
        <p:nvSpPr>
          <p:cNvPr id="21" name="Text 14"/>
          <p:cNvSpPr txBox="1"/>
          <p:nvPr/>
        </p:nvSpPr>
        <p:spPr>
          <a:xfrm>
            <a:off x="960120" y="3520440"/>
            <a:ext cx="1097280" cy="329184"/>
          </a:xfrm>
          <a:prstGeom prst="rect">
            <a:avLst/>
          </a:prstGeom>
          <a:noFill/>
          <a:ln/>
        </p:spPr>
        <p:txBody>
          <a:bodyPr wrap="square" lIns="0" tIns="0" rIns="0" bIns="0" rtlCol="0" anchor="ctr"/>
          <a:lstStyle/>
          <a:p>
            <a:pPr indent="0" marL="0">
              <a:buNone/>
            </a:pPr>
            <a:r>
              <a:rPr lang="en-US" sz="1300" b="1" dirty="0">
                <a:solidFill>
                  <a:srgbClr val="B9C8F2"/>
                </a:solidFill>
              </a:rPr>
              <a:t>Live app</a:t>
            </a:r>
            <a:endParaRPr lang="en-US" sz="1300" dirty="0"/>
          </a:p>
        </p:txBody>
      </p:sp>
      <p:sp>
        <p:nvSpPr>
          <p:cNvPr id="22" name="Text 15"/>
          <p:cNvSpPr txBox="1"/>
          <p:nvPr/>
        </p:nvSpPr>
        <p:spPr>
          <a:xfrm>
            <a:off x="2057400" y="3520440"/>
            <a:ext cx="4114800" cy="329184"/>
          </a:xfrm>
          <a:prstGeom prst="rect">
            <a:avLst/>
          </a:prstGeom>
          <a:noFill/>
          <a:ln/>
        </p:spPr>
        <p:txBody>
          <a:bodyPr wrap="square" lIns="0" tIns="0" rIns="0" bIns="0" rtlCol="0" anchor="ctr"/>
          <a:lstStyle/>
          <a:p>
            <a:pPr indent="0" marL="0">
              <a:buNone/>
            </a:pPr>
            <a:r>
              <a:rPr lang="en-US" sz="1500" dirty="0">
                <a:solidFill>
                  <a:srgbClr val="FFFFFF"/>
                </a:solidFill>
              </a:rPr>
              <a:t>[your-app].onrender.com</a:t>
            </a:r>
            <a:endParaRPr lang="en-US" sz="1500" dirty="0"/>
          </a:p>
        </p:txBody>
      </p:sp>
      <p:pic>
        <p:nvPicPr>
          <p:cNvPr id="23" name="Image 5" descr="/private/tmp/claude-501/-Users-nitinraina-opd-saathi/23bdfde6-3033-4306-a6c1-bdd0b4752ee0/scratchpad/build/img/icon-LuGithub.png">    </p:cNvPr>
          <p:cNvPicPr>
            <a:picLocks noChangeAspect="1"/>
          </p:cNvPicPr>
          <p:nvPr/>
        </p:nvPicPr>
        <p:blipFill>
          <a:blip r:embed="rId6"/>
          <a:stretch>
            <a:fillRect/>
          </a:stretch>
        </p:blipFill>
        <p:spPr>
          <a:xfrm>
            <a:off x="548640" y="4059936"/>
            <a:ext cx="256032" cy="256032"/>
          </a:xfrm>
          <a:prstGeom prst="rect">
            <a:avLst/>
          </a:prstGeom>
        </p:spPr>
      </p:pic>
      <p:sp>
        <p:nvSpPr>
          <p:cNvPr id="24" name="Text 16"/>
          <p:cNvSpPr txBox="1"/>
          <p:nvPr/>
        </p:nvSpPr>
        <p:spPr>
          <a:xfrm>
            <a:off x="960120" y="4023360"/>
            <a:ext cx="1097280" cy="329184"/>
          </a:xfrm>
          <a:prstGeom prst="rect">
            <a:avLst/>
          </a:prstGeom>
          <a:noFill/>
          <a:ln/>
        </p:spPr>
        <p:txBody>
          <a:bodyPr wrap="square" lIns="0" tIns="0" rIns="0" bIns="0" rtlCol="0" anchor="ctr"/>
          <a:lstStyle/>
          <a:p>
            <a:pPr indent="0" marL="0">
              <a:buNone/>
            </a:pPr>
            <a:r>
              <a:rPr lang="en-US" sz="1300" b="1" dirty="0">
                <a:solidFill>
                  <a:srgbClr val="B9C8F2"/>
                </a:solidFill>
              </a:rPr>
              <a:t>Code</a:t>
            </a:r>
            <a:endParaRPr lang="en-US" sz="1300" dirty="0"/>
          </a:p>
        </p:txBody>
      </p:sp>
      <p:sp>
        <p:nvSpPr>
          <p:cNvPr id="25" name="Text 17"/>
          <p:cNvSpPr txBox="1"/>
          <p:nvPr/>
        </p:nvSpPr>
        <p:spPr>
          <a:xfrm>
            <a:off x="2057400" y="4023360"/>
            <a:ext cx="4114800" cy="329184"/>
          </a:xfrm>
          <a:prstGeom prst="rect">
            <a:avLst/>
          </a:prstGeom>
          <a:noFill/>
          <a:ln/>
        </p:spPr>
        <p:txBody>
          <a:bodyPr wrap="square" lIns="0" tIns="0" rIns="0" bIns="0" rtlCol="0" anchor="ctr"/>
          <a:lstStyle/>
          <a:p>
            <a:pPr indent="0" marL="0">
              <a:buNone/>
            </a:pPr>
            <a:r>
              <a:rPr lang="en-US" sz="1500" dirty="0">
                <a:solidFill>
                  <a:srgbClr val="FFFFFF"/>
                </a:solidFill>
              </a:rPr>
              <a:t>github.com/[you]/opd-saathi</a:t>
            </a:r>
            <a:endParaRPr lang="en-US" sz="1500" dirty="0"/>
          </a:p>
        </p:txBody>
      </p:sp>
      <p:pic>
        <p:nvPicPr>
          <p:cNvPr id="26" name="Image 6" descr="HackCache ’26">    </p:cNvPr>
          <p:cNvPicPr>
            <a:picLocks noChangeAspect="1"/>
          </p:cNvPicPr>
          <p:nvPr/>
        </p:nvPicPr>
        <p:blipFill>
          <a:blip r:embed="rId7"/>
          <a:stretch>
            <a:fillRect/>
          </a:stretch>
        </p:blipFill>
        <p:spPr>
          <a:xfrm>
            <a:off x="6419088" y="4526280"/>
            <a:ext cx="2176272" cy="182880"/>
          </a:xfrm>
          <a:prstGeom prst="rect">
            <a:avLst/>
          </a:prstGeom>
        </p:spPr>
      </p:pic>
    </p:spTree>
  </p:cSld>
  <p:clrMapOvr>
    <a:masterClrMapping/>
  </p:clrMapOvr>
</p:sld>
</file>

<file path=ppt/theme/theme1.xml><?xml version="1.0" encoding="utf-8"?>
<a:theme xmlns:a="http://schemas.openxmlformats.org/drawingml/2006/main" name="OPD Saathi">
  <a:themeElements>
    <a:clrScheme name="OPD Saathi">
      <a:dk1>
        <a:srgbClr val="1F2937"/>
      </a:dk1>
      <a:lt1>
        <a:srgbClr val="FFFFFF"/>
      </a:lt1>
      <a:dk2>
        <a:srgbClr val="14213D"/>
      </a:dk2>
      <a:lt2>
        <a:srgbClr val="EEF3F1"/>
      </a:lt2>
      <a:accent1>
        <a:srgbClr val="0B6B4F"/>
      </a:accent1>
      <a:accent2>
        <a:srgbClr val="F0A43A"/>
      </a:accent2>
      <a:accent3>
        <a:srgbClr val="5E6B7E"/>
      </a:accent3>
      <a:accent4>
        <a:srgbClr val="B9C8F2"/>
      </a:accent4>
      <a:accent5>
        <a:srgbClr val="1D2D52"/>
      </a:accent5>
      <a:accent6>
        <a:srgbClr val="C62828"/>
      </a:accent6>
      <a:hlink>
        <a:srgbClr val="0B6B4F"/>
      </a:hlink>
      <a:folHlink>
        <a:srgbClr val="5E6B7E"/>
      </a:folHlink>
    </a:clrScheme>
    <a:fontScheme name="OPD Saathi">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OPD Saathi: HackCache ’26 pitch</dc:title>
  <dc:subject>PptxGenJS Presentation</dc:subject>
  <dc:creator>PptxGenJS</dc:creator>
  <cp:lastModifiedBy>PptxGenJS</cp:lastModifiedBy>
  <cp:revision>1</cp:revision>
  <dcterms:created xsi:type="dcterms:W3CDTF">2026-10-25T14:25:57Z</dcterms:created>
  <dcterms:modified xsi:type="dcterms:W3CDTF">2026-10-25T14:25:57Z</dcterms:modified>
</cp:coreProperties>
</file>